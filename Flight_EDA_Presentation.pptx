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embeddedFontLst>
    <p:embeddedFont>
      <p:font typeface="DM Sans" pitchFamily="2" charset="0"/>
      <p:regular r:id="rId10"/>
      <p:bold r:id="rId1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614" y="3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51455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Opening (about 20 seconds). Introduce yourself and the project: an exploratory analysis of 100,000 U.S. flights, plus an interactive Streamlit dashboard. Tell the audience the question we answer: why are flights late, and when? Replace Abdullah Alluhaidan on this slide with your name.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About 45 seconds. Dataset: 100,000 U.S. domestic flights from January 2019 to August 2023 across 18 airlines. The raw file has 32 columns; we kept the 11 we need for the analysis. Point out the key columns on the right. We found no duplicate rows, and we kept delays blank for the 2,836 cancelled or diverted flights instead of filling them with zero. The raw data source URL was not included with the supplied files; provide one only if you have a verified link.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About 40 seconds. Three parts. What the data is about: scheduled flights with delays, taxi times, distance and cancellations. The questions we explore: how often flights are late or cancelled, which airlines and times of day are worst, and what relates to arrival delay. What we expected before looking: evening flights and budget airlines are late more often, delays carry from departure to arrival, and distance alone does not explain delays. These are our starting hypotheses; the next slides test them.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About 60 seconds. Four plots from the notebook. Top left: the arrival-delay histogram. The typical flight lands 7 minutes early, but a long tail of big delays pulls the average up to about 4 minutes. Top right: late rates by airline, from about 12% for Endeavor Air to about 26% for JetBlue. Bottom left: late rate by scheduled departure hour. It climbs from under 8% for early-morning flights to about 25% at 8 to 9 pm. Bottom right: departure delay against arrival delay with a correlation of 0.96, so a flight that leaves late usually arrives late. Outliers: some delays exceed 3 hours (1.1% of completed flights); we kept them because they may be real.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About 75 seconds; this is the demo slide. If you can, switch to the live app now (run: streamlit run app.py). Left screenshot: the sidebar has a dataset description and four filters (an airline multiselect, a year dropdown and two sliders for distance and departure hour). Choosing Year = 2020 updates every KPI card: late arrivals drop to 9.2% while cancellations rise to 5.9%, and the small badges show the change against all flights. Right screenshot: eight interactive charts; the airline chart has a dropdown to switch between late rate, mean delay, median delay and cancellation rate. Below the charts are insight boxes that recalculate from the filters.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About 60 seconds. Four numbers to remember. One: 17.6% of completed flights arrive more than 15 minutes late, but the median flight lands 7 minutes early, so a few long delays distort the average. Two: lateness grows through the day, from 7.6% for 5 am departures to about 25% for 9 pm departures. Three: airlines differ a lot, from 12.3% for Endeavor Air to 25.9% for JetBlue. Four: departure delay and arrival delay move almost together (r = 0.96), while distance has almost no link. The orange note: 2020 had the fewest late arrivals but the most cancellations, and late arrivals have risen every year since. These are patterns in this sample; they do not prove cause and effect.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About 40 seconds. Main message: flights are mostly on time, but when they are late it follows patterns we can see: time of day, airline and a late departure. Be honest about limits: this is a sample, and the findings show relationships, not causes. For next steps, say what you would add (airports, weather, delay causes) and that a simple predictive model of late arrivals is the natural extension. Then invite questions and offer to open the dashboard again.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6F9"/>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609600"/>
            <a:ext cx="10566400" cy="419100"/>
          </a:xfrm>
          <a:prstGeom prst="rect">
            <a:avLst/>
          </a:prstGeom>
          <a:noFill/>
          <a:ln/>
        </p:spPr>
        <p:txBody>
          <a:bodyPr wrap="square" lIns="0" tIns="0" rIns="0" bIns="0" rtlCol="0" anchor="t"/>
          <a:lstStyle>
            <a:lvl1pPr marL="0" indent="0" algn="l">
              <a:lnSpc>
                <a:spcPct val="115000"/>
              </a:lnSpc>
              <a:buNone/>
              <a:defRPr lang="en-US" sz="3000" dirty="0">
                <a:solidFill>
                  <a:srgbClr val="14213D"/>
                </a:solidFill>
                <a:latin typeface="DM Sans" pitchFamily="34" charset="0"/>
                <a:ea typeface="DM Sans" pitchFamily="34" charset="-122"/>
                <a:cs typeface="DM Sans"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333500"/>
            <a:ext cx="10566400" cy="4711700"/>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609600"/>
            <a:ext cx="10566400" cy="419100"/>
          </a:xfrm>
          <a:prstGeom prst="rect">
            <a:avLst/>
          </a:prstGeom>
          <a:noFill/>
          <a:ln/>
        </p:spPr>
        <p:txBody>
          <a:bodyPr wrap="square" lIns="0" tIns="0" rIns="0" bIns="0" rtlCol="0" anchor="t"/>
          <a:lstStyle>
            <a:lvl1pPr marL="0" indent="0" algn="l">
              <a:lnSpc>
                <a:spcPct val="115000"/>
              </a:lnSpc>
              <a:buNone/>
              <a:defRPr lang="en-US" sz="3000" dirty="0">
                <a:solidFill>
                  <a:srgbClr val="14213D"/>
                </a:solidFill>
                <a:latin typeface="DM Sans" pitchFamily="34" charset="0"/>
                <a:ea typeface="DM Sans" pitchFamily="34" charset="-122"/>
                <a:cs typeface="DM Sans"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333500"/>
            <a:ext cx="10566400" cy="4711700"/>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238"/>
        </a:solidFill>
        <a:effectLst/>
      </p:bgPr>
    </p:bg>
    <p:spTree>
      <p:nvGrpSpPr>
        <p:cNvPr id="1" name=""/>
        <p:cNvGrpSpPr/>
        <p:nvPr/>
      </p:nvGrpSpPr>
      <p:grpSpPr>
        <a:xfrm>
          <a:off x="0" y="0"/>
          <a:ext cx="0" cy="0"/>
          <a:chOff x="0" y="0"/>
          <a:chExt cx="0" cy="0"/>
        </a:xfrm>
      </p:grpSpPr>
      <p:sp>
        <p:nvSpPr>
          <p:cNvPr id="2" name="Shape 0"/>
          <p:cNvSpPr/>
          <p:nvPr/>
        </p:nvSpPr>
        <p:spPr>
          <a:xfrm>
            <a:off x="0" y="0"/>
            <a:ext cx="203200" cy="6858000"/>
          </a:xfrm>
          <a:prstGeom prst="rect">
            <a:avLst/>
          </a:prstGeom>
          <a:solidFill>
            <a:srgbClr val="2A78D6"/>
          </a:solidFill>
          <a:ln/>
        </p:spPr>
        <p:txBody>
          <a:bodyPr/>
          <a:lstStyle/>
          <a:p>
            <a:endParaRPr/>
          </a:p>
        </p:txBody>
      </p:sp>
      <p:sp>
        <p:nvSpPr>
          <p:cNvPr id="3" name="Text 1"/>
          <p:cNvSpPr/>
          <p:nvPr/>
        </p:nvSpPr>
        <p:spPr>
          <a:xfrm>
            <a:off x="1016000" y="812800"/>
            <a:ext cx="10674096" cy="274320"/>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8FBBF3"/>
                </a:solidFill>
                <a:latin typeface="DM Sans" pitchFamily="34" charset="0"/>
                <a:ea typeface="DM Sans" pitchFamily="34" charset="-122"/>
                <a:cs typeface="DM Sans" pitchFamily="34" charset="-120"/>
              </a:rPr>
              <a:t>FINAL PROJECT · UNIT 3 · DATA EXPLORATION &amp; DASHBOARD DEVELOPMENT</a:t>
            </a:r>
            <a:endParaRPr lang="en-US" sz="1400" dirty="0"/>
          </a:p>
        </p:txBody>
      </p:sp>
      <p:sp>
        <p:nvSpPr>
          <p:cNvPr id="4" name="Text 2"/>
          <p:cNvSpPr>
            <a:spLocks noGrp="1"/>
          </p:cNvSpPr>
          <p:nvPr>
            <p:ph type="title"/>
          </p:nvPr>
        </p:nvSpPr>
        <p:spPr>
          <a:xfrm>
            <a:off x="1016000" y="2586990"/>
            <a:ext cx="10674096" cy="612140"/>
          </a:xfrm>
          <a:prstGeom prst="rect">
            <a:avLst/>
          </a:prstGeom>
          <a:noFill/>
          <a:ln/>
        </p:spPr>
        <p:txBody>
          <a:bodyPr wrap="square" lIns="0" tIns="0" rIns="0" bIns="0" rtlCol="0" anchor="t">
            <a:normAutofit/>
          </a:bodyPr>
          <a:lstStyle/>
          <a:p>
            <a:pPr marL="0" indent="0" algn="l">
              <a:lnSpc>
                <a:spcPts val="4620"/>
              </a:lnSpc>
              <a:buNone/>
            </a:pPr>
            <a:r>
              <a:rPr lang="en-US" sz="4400" b="1" i="0" dirty="0">
                <a:solidFill>
                  <a:srgbClr val="F4F7FB"/>
                </a:solidFill>
                <a:latin typeface="DM Sans" pitchFamily="34" charset="0"/>
                <a:ea typeface="DM Sans" pitchFamily="34" charset="-122"/>
                <a:cs typeface="DM Sans" pitchFamily="34" charset="-120"/>
              </a:rPr>
              <a:t>Why Are Flights Late?</a:t>
            </a:r>
            <a:endParaRPr lang="en-US" sz="4400" dirty="0"/>
          </a:p>
        </p:txBody>
      </p:sp>
      <p:sp>
        <p:nvSpPr>
          <p:cNvPr id="5" name="Text 3"/>
          <p:cNvSpPr/>
          <p:nvPr/>
        </p:nvSpPr>
        <p:spPr>
          <a:xfrm>
            <a:off x="1016000" y="3376930"/>
            <a:ext cx="10674096" cy="6858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B9C6D6"/>
                </a:solidFill>
                <a:latin typeface="DM Sans" pitchFamily="34" charset="0"/>
                <a:ea typeface="DM Sans" pitchFamily="34" charset="-122"/>
                <a:cs typeface="DM Sans" pitchFamily="34" charset="-120"/>
              </a:rPr>
              <a:t>Exploratory data analysis and an interactive dashboard of 100,000 U.S. flights</a:t>
            </a:r>
            <a:r>
              <a:rPr lang="en-US" sz="2000">
                <a:solidFill>
                  <a:srgbClr val="B9C6D6"/>
                </a:solidFill>
                <a:latin typeface="DM Sans" pitchFamily="34" charset="0"/>
                <a:ea typeface="DM Sans" pitchFamily="34" charset="-122"/>
                <a:cs typeface="DM Sans" pitchFamily="34" charset="-120"/>
              </a:rPr>
              <a:t>, 2019–2023</a:t>
            </a:r>
            <a:endParaRPr lang="en-US" sz="2000" dirty="0"/>
          </a:p>
        </p:txBody>
      </p:sp>
      <p:sp>
        <p:nvSpPr>
          <p:cNvPr id="6" name="Shape 4"/>
          <p:cNvSpPr/>
          <p:nvPr/>
        </p:nvSpPr>
        <p:spPr>
          <a:xfrm>
            <a:off x="1016000" y="5565775"/>
            <a:ext cx="10363200" cy="0"/>
          </a:xfrm>
          <a:prstGeom prst="line">
            <a:avLst/>
          </a:prstGeom>
          <a:noFill/>
          <a:ln w="6350">
            <a:solidFill>
              <a:srgbClr val="2C4560"/>
            </a:solidFill>
            <a:prstDash val="solid"/>
          </a:ln>
        </p:spPr>
        <p:txBody>
          <a:bodyPr/>
          <a:lstStyle/>
          <a:p>
            <a:endParaRPr/>
          </a:p>
        </p:txBody>
      </p:sp>
      <p:sp>
        <p:nvSpPr>
          <p:cNvPr id="7" name="Text 5"/>
          <p:cNvSpPr/>
          <p:nvPr/>
        </p:nvSpPr>
        <p:spPr>
          <a:xfrm>
            <a:off x="1016000" y="5796280"/>
            <a:ext cx="2634425" cy="274320"/>
          </a:xfrm>
          <a:prstGeom prst="rect">
            <a:avLst/>
          </a:prstGeom>
          <a:noFill/>
          <a:ln/>
        </p:spPr>
        <p:txBody>
          <a:bodyPr wrap="square" lIns="0" tIns="0" rIns="0" bIns="0" rtlCol="0" anchor="t">
            <a:normAutofit fontScale="92500"/>
          </a:bodyPr>
          <a:lstStyle/>
          <a:p>
            <a:pPr marL="0" indent="0" algn="l">
              <a:lnSpc>
                <a:spcPts val="1960"/>
              </a:lnSpc>
              <a:buNone/>
            </a:pPr>
            <a:r>
              <a:rPr lang="en-US" sz="1400" dirty="0">
                <a:solidFill>
                  <a:srgbClr val="F4F7FB"/>
                </a:solidFill>
                <a:latin typeface="DM Sans" pitchFamily="34" charset="0"/>
                <a:ea typeface="DM Sans" pitchFamily="34" charset="-122"/>
                <a:cs typeface="DM Sans" pitchFamily="34" charset="-120"/>
              </a:rPr>
              <a:t>Presented by: Abdullah Alluhaidan</a:t>
            </a:r>
            <a:endParaRPr lang="en-US" sz="1400" dirty="0"/>
          </a:p>
        </p:txBody>
      </p:sp>
      <p:sp>
        <p:nvSpPr>
          <p:cNvPr id="8" name="Text 6"/>
          <p:cNvSpPr/>
          <p:nvPr/>
        </p:nvSpPr>
        <p:spPr>
          <a:xfrm>
            <a:off x="6552978" y="5796280"/>
            <a:ext cx="4826222" cy="274320"/>
          </a:xfrm>
          <a:prstGeom prst="rect">
            <a:avLst/>
          </a:prstGeom>
          <a:noFill/>
          <a:ln/>
        </p:spPr>
        <p:txBody>
          <a:bodyPr wrap="square" lIns="0" tIns="0" rIns="0" bIns="0" rtlCol="0" anchor="t">
            <a:normAutofit/>
          </a:bodyPr>
          <a:lstStyle/>
          <a:p>
            <a:pPr marL="0" indent="0" algn="r">
              <a:lnSpc>
                <a:spcPts val="1960"/>
              </a:lnSpc>
              <a:buNone/>
            </a:pPr>
            <a:r>
              <a:rPr lang="en-US" sz="1400" dirty="0">
                <a:solidFill>
                  <a:srgbClr val="B9C6D6"/>
                </a:solidFill>
                <a:latin typeface="DM Sans" pitchFamily="34" charset="0"/>
                <a:ea typeface="DM Sans" pitchFamily="34" charset="-122"/>
                <a:cs typeface="DM Sans" pitchFamily="34" charset="-120"/>
              </a:rPr>
              <a:t>100,000 flights · 18 airlines · Jan 2019 – Aug 2023</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9"/>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6096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13D"/>
                </a:solidFill>
                <a:latin typeface="DM Sans" pitchFamily="34" charset="0"/>
                <a:ea typeface="DM Sans" pitchFamily="34" charset="-122"/>
                <a:cs typeface="DM Sans" pitchFamily="34" charset="-120"/>
              </a:rPr>
              <a:t>Dataset overview</a:t>
            </a:r>
            <a:endParaRPr lang="en-US" sz="3000" dirty="0"/>
          </a:p>
        </p:txBody>
      </p:sp>
      <p:sp>
        <p:nvSpPr>
          <p:cNvPr id="3" name="Shape 1"/>
          <p:cNvSpPr/>
          <p:nvPr/>
        </p:nvSpPr>
        <p:spPr>
          <a:xfrm>
            <a:off x="815975" y="1209675"/>
            <a:ext cx="2343150" cy="1022350"/>
          </a:xfrm>
          <a:prstGeom prst="roundRect">
            <a:avLst>
              <a:gd name="adj" fmla="val 9627"/>
            </a:avLst>
          </a:prstGeom>
          <a:solidFill>
            <a:srgbClr val="FBFCFD"/>
          </a:solidFill>
          <a:ln w="6350">
            <a:solidFill>
              <a:srgbClr val="DDE3EA"/>
            </a:solidFill>
            <a:prstDash val="solid"/>
          </a:ln>
        </p:spPr>
        <p:txBody>
          <a:bodyPr/>
          <a:lstStyle/>
          <a:p>
            <a:endParaRPr/>
          </a:p>
        </p:txBody>
      </p:sp>
      <p:sp>
        <p:nvSpPr>
          <p:cNvPr id="4" name="Text 2"/>
          <p:cNvSpPr/>
          <p:nvPr/>
        </p:nvSpPr>
        <p:spPr>
          <a:xfrm>
            <a:off x="995680" y="1389380"/>
            <a:ext cx="2043252"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C5CAB"/>
                </a:solidFill>
                <a:latin typeface="DM Sans" pitchFamily="34" charset="0"/>
                <a:ea typeface="DM Sans" pitchFamily="34" charset="-122"/>
                <a:cs typeface="DM Sans" pitchFamily="34" charset="-120"/>
              </a:rPr>
              <a:t>100,000</a:t>
            </a:r>
            <a:endParaRPr lang="en-US" sz="3000" dirty="0"/>
          </a:p>
        </p:txBody>
      </p:sp>
      <p:sp>
        <p:nvSpPr>
          <p:cNvPr id="5" name="Text 3"/>
          <p:cNvSpPr/>
          <p:nvPr/>
        </p:nvSpPr>
        <p:spPr>
          <a:xfrm>
            <a:off x="995680" y="1846580"/>
            <a:ext cx="2043252"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DM Sans" pitchFamily="34" charset="0"/>
                <a:ea typeface="DM Sans" pitchFamily="34" charset="-122"/>
                <a:cs typeface="DM Sans" pitchFamily="34" charset="-120"/>
              </a:rPr>
              <a:t>U.S. domestic flights</a:t>
            </a:r>
            <a:endParaRPr lang="en-US" sz="1200" dirty="0"/>
          </a:p>
        </p:txBody>
      </p:sp>
      <p:sp>
        <p:nvSpPr>
          <p:cNvPr id="6" name="Shape 4"/>
          <p:cNvSpPr/>
          <p:nvPr/>
        </p:nvSpPr>
        <p:spPr>
          <a:xfrm>
            <a:off x="3292475" y="1209675"/>
            <a:ext cx="2343150" cy="1022350"/>
          </a:xfrm>
          <a:prstGeom prst="roundRect">
            <a:avLst>
              <a:gd name="adj" fmla="val 9627"/>
            </a:avLst>
          </a:prstGeom>
          <a:solidFill>
            <a:srgbClr val="FBFCFD"/>
          </a:solidFill>
          <a:ln w="6350">
            <a:solidFill>
              <a:srgbClr val="DDE3EA"/>
            </a:solidFill>
            <a:prstDash val="solid"/>
          </a:ln>
        </p:spPr>
        <p:txBody>
          <a:bodyPr/>
          <a:lstStyle/>
          <a:p>
            <a:endParaRPr/>
          </a:p>
        </p:txBody>
      </p:sp>
      <p:sp>
        <p:nvSpPr>
          <p:cNvPr id="7" name="Text 5"/>
          <p:cNvSpPr/>
          <p:nvPr/>
        </p:nvSpPr>
        <p:spPr>
          <a:xfrm>
            <a:off x="3472180" y="1389380"/>
            <a:ext cx="2043252"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C5CAB"/>
                </a:solidFill>
                <a:latin typeface="DM Sans" pitchFamily="34" charset="0"/>
                <a:ea typeface="DM Sans" pitchFamily="34" charset="-122"/>
                <a:cs typeface="DM Sans" pitchFamily="34" charset="-120"/>
              </a:rPr>
              <a:t>18</a:t>
            </a:r>
            <a:endParaRPr lang="en-US" sz="3000" dirty="0"/>
          </a:p>
        </p:txBody>
      </p:sp>
      <p:sp>
        <p:nvSpPr>
          <p:cNvPr id="8" name="Text 6"/>
          <p:cNvSpPr/>
          <p:nvPr/>
        </p:nvSpPr>
        <p:spPr>
          <a:xfrm>
            <a:off x="3472180" y="1846580"/>
            <a:ext cx="2043252"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DM Sans" pitchFamily="34" charset="0"/>
                <a:ea typeface="DM Sans" pitchFamily="34" charset="-122"/>
                <a:cs typeface="DM Sans" pitchFamily="34" charset="-120"/>
              </a:rPr>
              <a:t>airlines</a:t>
            </a:r>
            <a:endParaRPr lang="en-US" sz="1200" dirty="0"/>
          </a:p>
        </p:txBody>
      </p:sp>
      <p:sp>
        <p:nvSpPr>
          <p:cNvPr id="9" name="Shape 7"/>
          <p:cNvSpPr/>
          <p:nvPr/>
        </p:nvSpPr>
        <p:spPr>
          <a:xfrm>
            <a:off x="815975" y="2365375"/>
            <a:ext cx="2343150" cy="1228090"/>
          </a:xfrm>
          <a:prstGeom prst="roundRect">
            <a:avLst>
              <a:gd name="adj" fmla="val 8014"/>
            </a:avLst>
          </a:prstGeom>
          <a:solidFill>
            <a:srgbClr val="FBFCFD"/>
          </a:solidFill>
          <a:ln w="6350">
            <a:solidFill>
              <a:srgbClr val="DDE3EA"/>
            </a:solidFill>
            <a:prstDash val="solid"/>
          </a:ln>
        </p:spPr>
        <p:txBody>
          <a:bodyPr/>
          <a:lstStyle/>
          <a:p>
            <a:endParaRPr/>
          </a:p>
        </p:txBody>
      </p:sp>
      <p:sp>
        <p:nvSpPr>
          <p:cNvPr id="10" name="Text 8"/>
          <p:cNvSpPr/>
          <p:nvPr/>
        </p:nvSpPr>
        <p:spPr>
          <a:xfrm>
            <a:off x="995680" y="2545080"/>
            <a:ext cx="2043252"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C5CAB"/>
                </a:solidFill>
                <a:latin typeface="DM Sans" pitchFamily="34" charset="0"/>
                <a:ea typeface="DM Sans" pitchFamily="34" charset="-122"/>
                <a:cs typeface="DM Sans" pitchFamily="34" charset="-120"/>
              </a:rPr>
              <a:t>56</a:t>
            </a:r>
            <a:endParaRPr lang="en-US" sz="3000" dirty="0"/>
          </a:p>
        </p:txBody>
      </p:sp>
      <p:sp>
        <p:nvSpPr>
          <p:cNvPr id="11" name="Text 9"/>
          <p:cNvSpPr/>
          <p:nvPr/>
        </p:nvSpPr>
        <p:spPr>
          <a:xfrm>
            <a:off x="995680" y="3002280"/>
            <a:ext cx="2043252"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DM Sans" pitchFamily="34" charset="0"/>
                <a:ea typeface="DM Sans" pitchFamily="34" charset="-122"/>
                <a:cs typeface="DM Sans" pitchFamily="34" charset="-120"/>
              </a:rPr>
              <a:t>months of data, Jan 2019 – Aug 2023</a:t>
            </a:r>
            <a:endParaRPr lang="en-US" sz="1200" dirty="0"/>
          </a:p>
        </p:txBody>
      </p:sp>
      <p:sp>
        <p:nvSpPr>
          <p:cNvPr id="12" name="Shape 10"/>
          <p:cNvSpPr/>
          <p:nvPr/>
        </p:nvSpPr>
        <p:spPr>
          <a:xfrm>
            <a:off x="3292475" y="2365375"/>
            <a:ext cx="2343150" cy="1228090"/>
          </a:xfrm>
          <a:prstGeom prst="roundRect">
            <a:avLst>
              <a:gd name="adj" fmla="val 8014"/>
            </a:avLst>
          </a:prstGeom>
          <a:solidFill>
            <a:srgbClr val="FBFCFD"/>
          </a:solidFill>
          <a:ln w="6350">
            <a:solidFill>
              <a:srgbClr val="DDE3EA"/>
            </a:solidFill>
            <a:prstDash val="solid"/>
          </a:ln>
        </p:spPr>
        <p:txBody>
          <a:bodyPr/>
          <a:lstStyle/>
          <a:p>
            <a:endParaRPr/>
          </a:p>
        </p:txBody>
      </p:sp>
      <p:sp>
        <p:nvSpPr>
          <p:cNvPr id="13" name="Text 11"/>
          <p:cNvSpPr/>
          <p:nvPr/>
        </p:nvSpPr>
        <p:spPr>
          <a:xfrm>
            <a:off x="3472180" y="2545080"/>
            <a:ext cx="2043252"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C5CAB"/>
                </a:solidFill>
                <a:latin typeface="DM Sans" pitchFamily="34" charset="0"/>
                <a:ea typeface="DM Sans" pitchFamily="34" charset="-122"/>
                <a:cs typeface="DM Sans" pitchFamily="34" charset="-120"/>
              </a:rPr>
              <a:t>11</a:t>
            </a:r>
            <a:endParaRPr lang="en-US" sz="3000" dirty="0"/>
          </a:p>
        </p:txBody>
      </p:sp>
      <p:sp>
        <p:nvSpPr>
          <p:cNvPr id="14" name="Text 12"/>
          <p:cNvSpPr/>
          <p:nvPr/>
        </p:nvSpPr>
        <p:spPr>
          <a:xfrm>
            <a:off x="3472180" y="3002280"/>
            <a:ext cx="2043252"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DM Sans" pitchFamily="34" charset="0"/>
                <a:ea typeface="DM Sans" pitchFamily="34" charset="-122"/>
                <a:cs typeface="DM Sans" pitchFamily="34" charset="-120"/>
              </a:rPr>
              <a:t>columns kept after cleaning (32 in the raw file)</a:t>
            </a:r>
            <a:endParaRPr lang="en-US" sz="1200" dirty="0"/>
          </a:p>
        </p:txBody>
      </p:sp>
      <p:sp>
        <p:nvSpPr>
          <p:cNvPr id="15" name="Text 13"/>
          <p:cNvSpPr/>
          <p:nvPr/>
        </p:nvSpPr>
        <p:spPr>
          <a:xfrm>
            <a:off x="812800" y="3723640"/>
            <a:ext cx="4970780" cy="452120"/>
          </a:xfrm>
          <a:prstGeom prst="rect">
            <a:avLst/>
          </a:prstGeom>
          <a:noFill/>
          <a:ln/>
        </p:spPr>
        <p:txBody>
          <a:bodyPr wrap="square" lIns="0" tIns="0" rIns="0" bIns="0" rtlCol="0" anchor="t">
            <a:normAutofit/>
          </a:bodyPr>
          <a:lstStyle/>
          <a:p>
            <a:r>
              <a:rPr sz="1130">
                <a:solidFill>
                  <a:srgbClr val="4E5C72"/>
                </a:solidFill>
                <a:latin typeface="DM Sans"/>
              </a:rPr>
              <a:t>97,164 completed · 2,649 cancelled · 187 diverted. No exact duplicates; missing arrival delays were not set to zero.</a:t>
            </a:r>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930900" y="1219200"/>
          <a:ext cx="5448300" cy="2661920"/>
        </p:xfrm>
        <a:graphic>
          <a:graphicData uri="http://schemas.openxmlformats.org/drawingml/2006/table">
            <a:tbl>
              <a:tblPr/>
              <a:tblGrid>
                <a:gridCol w="2070354">
                  <a:extLst>
                    <a:ext uri="{9D8B030D-6E8A-4147-A177-3AD203B41FA5}">
                      <a16:colId xmlns:a16="http://schemas.microsoft.com/office/drawing/2014/main" val="20000"/>
                    </a:ext>
                  </a:extLst>
                </a:gridCol>
                <a:gridCol w="3377946">
                  <a:extLst>
                    <a:ext uri="{9D8B030D-6E8A-4147-A177-3AD203B41FA5}">
                      <a16:colId xmlns:a16="http://schemas.microsoft.com/office/drawing/2014/main" val="20001"/>
                    </a:ext>
                  </a:extLst>
                </a:gridCol>
              </a:tblGrid>
              <a:tr h="332740">
                <a:tc>
                  <a:txBody>
                    <a:bodyPr/>
                    <a:lstStyle/>
                    <a:p>
                      <a:pPr marL="0" indent="0">
                        <a:lnSpc>
                          <a:spcPts val="1680"/>
                        </a:lnSpc>
                        <a:buNone/>
                      </a:pPr>
                      <a:r>
                        <a:rPr lang="en-US" sz="1200" b="1" dirty="0">
                          <a:solidFill>
                            <a:srgbClr val="14213D"/>
                          </a:solidFill>
                          <a:latin typeface="DM Sans" pitchFamily="34" charset="0"/>
                          <a:ea typeface="DM Sans" pitchFamily="34" charset="-122"/>
                          <a:cs typeface="DM Sans" pitchFamily="34" charset="-120"/>
                        </a:rPr>
                        <a:t>Column</a:t>
                      </a:r>
                      <a:endParaRPr lang="en-US" sz="1200" dirty="0">
                        <a:latin typeface="DM Sans" charset="0"/>
                        <a:ea typeface="DM Sans" charset="0"/>
                        <a:cs typeface="DM Sans" charset="0"/>
                      </a:endParaRPr>
                    </a:p>
                  </a:txBody>
                  <a:tcPr marL="53340" marR="53340" marT="53340" marB="53340">
                    <a:lnL w="12700" cap="flat" cmpd="sng" algn="ctr">
                      <a:solidFill>
                        <a:srgbClr val="C3C4C6"/>
                      </a:solidFill>
                      <a:prstDash val="solid"/>
                      <a:round/>
                      <a:headEnd type="none" w="med" len="med"/>
                      <a:tailEnd type="none" w="med" len="med"/>
                    </a:lnL>
                    <a:lnR w="12700" cap="flat" cmpd="sng" algn="ctr">
                      <a:solidFill>
                        <a:srgbClr val="B5BCC3"/>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CC3"/>
                      </a:solidFill>
                      <a:prstDash val="solid"/>
                      <a:round/>
                      <a:headEnd type="none" w="med" len="med"/>
                      <a:tailEnd type="none" w="med" len="med"/>
                    </a:lnB>
                    <a:solidFill>
                      <a:srgbClr val="E3EBF4"/>
                    </a:solidFill>
                  </a:tcPr>
                </a:tc>
                <a:tc>
                  <a:txBody>
                    <a:bodyPr/>
                    <a:lstStyle/>
                    <a:p>
                      <a:pPr marL="0" indent="0">
                        <a:lnSpc>
                          <a:spcPts val="1680"/>
                        </a:lnSpc>
                        <a:buNone/>
                      </a:pPr>
                      <a:r>
                        <a:rPr lang="en-US" sz="1200" b="1" dirty="0">
                          <a:solidFill>
                            <a:srgbClr val="14213D"/>
                          </a:solidFill>
                          <a:latin typeface="DM Sans" pitchFamily="34" charset="0"/>
                          <a:ea typeface="DM Sans" pitchFamily="34" charset="-122"/>
                          <a:cs typeface="DM Sans" pitchFamily="34" charset="-120"/>
                        </a:rPr>
                        <a:t>What it holds</a:t>
                      </a:r>
                      <a:endParaRPr lang="en-US" sz="1200" dirty="0">
                        <a:latin typeface="DM Sans" charset="0"/>
                        <a:ea typeface="DM Sans" charset="0"/>
                        <a:cs typeface="DM Sans" charset="0"/>
                      </a:endParaRPr>
                    </a:p>
                  </a:txBody>
                  <a:tcPr marL="53340" marR="53340" marT="53340" marB="53340">
                    <a:lnL w="12700" cap="flat" cmpd="sng" algn="ctr">
                      <a:solidFill>
                        <a:srgbClr val="B5BCC3"/>
                      </a:solidFill>
                      <a:prstDash val="solid"/>
                      <a:round/>
                      <a:headEnd type="none" w="med" len="med"/>
                      <a:tailEnd type="none" w="med" len="med"/>
                    </a:lnL>
                    <a:lnR w="12700" cap="flat" cmpd="sng" algn="ctr">
                      <a:solidFill>
                        <a:srgbClr val="B5BCC3"/>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CC3"/>
                      </a:solidFill>
                      <a:prstDash val="solid"/>
                      <a:round/>
                      <a:headEnd type="none" w="med" len="med"/>
                      <a:tailEnd type="none" w="med" len="med"/>
                    </a:lnB>
                    <a:solidFill>
                      <a:srgbClr val="E3EBF4"/>
                    </a:solidFill>
                  </a:tcPr>
                </a:tc>
                <a:extLst>
                  <a:ext uri="{0D108BD9-81ED-4DB2-BD59-A6C34878D82A}">
                    <a16:rowId xmlns:a16="http://schemas.microsoft.com/office/drawing/2014/main" val="10000"/>
                  </a:ext>
                </a:extLst>
              </a:tr>
              <a:tr h="332740">
                <a:tc>
                  <a:txBody>
                    <a:bodyPr/>
                    <a:lstStyle/>
                    <a:p>
                      <a:pPr marL="0" indent="0">
                        <a:lnSpc>
                          <a:spcPts val="1680"/>
                        </a:lnSpc>
                        <a:buNone/>
                      </a:pPr>
                      <a:r>
                        <a:rPr lang="en-US" sz="1200" dirty="0">
                          <a:solidFill>
                            <a:srgbClr val="14213D"/>
                          </a:solidFill>
                          <a:latin typeface="DM Sans" pitchFamily="34" charset="0"/>
                          <a:ea typeface="DM Sans" pitchFamily="34" charset="-122"/>
                          <a:cs typeface="DM Sans" pitchFamily="34" charset="-120"/>
                        </a:rPr>
                        <a:t>FL_DATE</a:t>
                      </a:r>
                      <a:endParaRPr lang="en-US" sz="1200" dirty="0">
                        <a:latin typeface="DM Sans" charset="0"/>
                        <a:ea typeface="DM Sans" charset="0"/>
                        <a:cs typeface="DM Sans" charset="0"/>
                      </a:endParaRPr>
                    </a:p>
                  </a:txBody>
                  <a:tcPr marL="53340" marR="53340" marT="53340" marB="5334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CC3"/>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DM Sans" pitchFamily="34" charset="0"/>
                          <a:ea typeface="DM Sans" pitchFamily="34" charset="-122"/>
                          <a:cs typeface="DM Sans" pitchFamily="34" charset="-120"/>
                        </a:rPr>
                        <a:t>Flight date</a:t>
                      </a:r>
                      <a:endParaRPr lang="en-US" sz="1200" dirty="0">
                        <a:latin typeface="DM Sans" charset="0"/>
                        <a:ea typeface="DM Sans" charset="0"/>
                        <a:cs typeface="DM Sans" charset="0"/>
                      </a:endParaRPr>
                    </a:p>
                  </a:txBody>
                  <a:tcPr marL="53340" marR="53340" marT="53340" marB="5334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CC3"/>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extLst>
                  <a:ext uri="{0D108BD9-81ED-4DB2-BD59-A6C34878D82A}">
                    <a16:rowId xmlns:a16="http://schemas.microsoft.com/office/drawing/2014/main" val="10001"/>
                  </a:ext>
                </a:extLst>
              </a:tr>
              <a:tr h="332740">
                <a:tc>
                  <a:txBody>
                    <a:bodyPr/>
                    <a:lstStyle/>
                    <a:p>
                      <a:pPr marL="0" indent="0">
                        <a:lnSpc>
                          <a:spcPts val="1680"/>
                        </a:lnSpc>
                        <a:buNone/>
                      </a:pPr>
                      <a:r>
                        <a:rPr lang="en-US" sz="1200" dirty="0">
                          <a:solidFill>
                            <a:srgbClr val="14213D"/>
                          </a:solidFill>
                          <a:latin typeface="DM Sans" pitchFamily="34" charset="0"/>
                          <a:ea typeface="DM Sans" pitchFamily="34" charset="-122"/>
                          <a:cs typeface="DM Sans" pitchFamily="34" charset="-120"/>
                        </a:rPr>
                        <a:t>AIRLINE</a:t>
                      </a:r>
                      <a:endParaRPr lang="en-US" sz="1200" dirty="0">
                        <a:latin typeface="DM Sans" charset="0"/>
                        <a:ea typeface="DM Sans" charset="0"/>
                        <a:cs typeface="DM Sans" charset="0"/>
                      </a:endParaRPr>
                    </a:p>
                  </a:txBody>
                  <a:tcPr marL="53340" marR="53340" marT="53340" marB="5334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DM Sans" pitchFamily="34" charset="0"/>
                          <a:ea typeface="DM Sans" pitchFamily="34" charset="-122"/>
                          <a:cs typeface="DM Sans" pitchFamily="34" charset="-120"/>
                        </a:rPr>
                        <a:t>Carrier name</a:t>
                      </a:r>
                      <a:endParaRPr lang="en-US" sz="1200" dirty="0">
                        <a:latin typeface="DM Sans" charset="0"/>
                        <a:ea typeface="DM Sans" charset="0"/>
                        <a:cs typeface="DM Sans" charset="0"/>
                      </a:endParaRPr>
                    </a:p>
                  </a:txBody>
                  <a:tcPr marL="53340" marR="53340" marT="53340" marB="5334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extLst>
                  <a:ext uri="{0D108BD9-81ED-4DB2-BD59-A6C34878D82A}">
                    <a16:rowId xmlns:a16="http://schemas.microsoft.com/office/drawing/2014/main" val="10002"/>
                  </a:ext>
                </a:extLst>
              </a:tr>
              <a:tr h="332740">
                <a:tc>
                  <a:txBody>
                    <a:bodyPr/>
                    <a:lstStyle/>
                    <a:p>
                      <a:pPr marL="0" indent="0">
                        <a:lnSpc>
                          <a:spcPts val="1680"/>
                        </a:lnSpc>
                        <a:buNone/>
                      </a:pPr>
                      <a:r>
                        <a:rPr lang="en-US" sz="1200" dirty="0">
                          <a:solidFill>
                            <a:srgbClr val="14213D"/>
                          </a:solidFill>
                          <a:latin typeface="DM Sans" pitchFamily="34" charset="0"/>
                          <a:ea typeface="DM Sans" pitchFamily="34" charset="-122"/>
                          <a:cs typeface="DM Sans" pitchFamily="34" charset="-120"/>
                        </a:rPr>
                        <a:t>CRS_DEP_TIME</a:t>
                      </a:r>
                      <a:endParaRPr lang="en-US" sz="1200" dirty="0">
                        <a:latin typeface="DM Sans" charset="0"/>
                        <a:ea typeface="DM Sans" charset="0"/>
                        <a:cs typeface="DM Sans" charset="0"/>
                      </a:endParaRPr>
                    </a:p>
                  </a:txBody>
                  <a:tcPr marL="53340" marR="53340" marT="53340" marB="5334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DM Sans" pitchFamily="34" charset="0"/>
                          <a:ea typeface="DM Sans" pitchFamily="34" charset="-122"/>
                          <a:cs typeface="DM Sans" pitchFamily="34" charset="-120"/>
                        </a:rPr>
                        <a:t>Scheduled departure (hhmm)</a:t>
                      </a:r>
                      <a:endParaRPr lang="en-US" sz="1200" dirty="0">
                        <a:latin typeface="DM Sans" charset="0"/>
                        <a:ea typeface="DM Sans" charset="0"/>
                        <a:cs typeface="DM Sans" charset="0"/>
                      </a:endParaRPr>
                    </a:p>
                  </a:txBody>
                  <a:tcPr marL="53340" marR="53340" marT="53340" marB="5334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extLst>
                  <a:ext uri="{0D108BD9-81ED-4DB2-BD59-A6C34878D82A}">
                    <a16:rowId xmlns:a16="http://schemas.microsoft.com/office/drawing/2014/main" val="10003"/>
                  </a:ext>
                </a:extLst>
              </a:tr>
              <a:tr h="332740">
                <a:tc>
                  <a:txBody>
                    <a:bodyPr/>
                    <a:lstStyle/>
                    <a:p>
                      <a:pPr marL="0" indent="0">
                        <a:lnSpc>
                          <a:spcPts val="1680"/>
                        </a:lnSpc>
                        <a:buNone/>
                      </a:pPr>
                      <a:r>
                        <a:rPr lang="en-US" sz="1200" dirty="0">
                          <a:solidFill>
                            <a:srgbClr val="14213D"/>
                          </a:solidFill>
                          <a:latin typeface="DM Sans" pitchFamily="34" charset="0"/>
                          <a:ea typeface="DM Sans" pitchFamily="34" charset="-122"/>
                          <a:cs typeface="DM Sans" pitchFamily="34" charset="-120"/>
                        </a:rPr>
                        <a:t>DEP_DELAY, ARR_DELAY</a:t>
                      </a:r>
                      <a:endParaRPr lang="en-US" sz="1200" dirty="0">
                        <a:latin typeface="DM Sans" charset="0"/>
                        <a:ea typeface="DM Sans" charset="0"/>
                        <a:cs typeface="DM Sans" charset="0"/>
                      </a:endParaRPr>
                    </a:p>
                  </a:txBody>
                  <a:tcPr marL="53340" marR="53340" marT="53340" marB="5334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DM Sans" pitchFamily="34" charset="0"/>
                          <a:ea typeface="DM Sans" pitchFamily="34" charset="-122"/>
                          <a:cs typeface="DM Sans" pitchFamily="34" charset="-120"/>
                        </a:rPr>
                        <a:t>Delay in minutes (negative = early)</a:t>
                      </a:r>
                      <a:endParaRPr lang="en-US" sz="1200" dirty="0">
                        <a:latin typeface="DM Sans" charset="0"/>
                        <a:ea typeface="DM Sans" charset="0"/>
                        <a:cs typeface="DM Sans" charset="0"/>
                      </a:endParaRPr>
                    </a:p>
                  </a:txBody>
                  <a:tcPr marL="53340" marR="53340" marT="53340" marB="5334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extLst>
                  <a:ext uri="{0D108BD9-81ED-4DB2-BD59-A6C34878D82A}">
                    <a16:rowId xmlns:a16="http://schemas.microsoft.com/office/drawing/2014/main" val="10004"/>
                  </a:ext>
                </a:extLst>
              </a:tr>
              <a:tr h="332740">
                <a:tc>
                  <a:txBody>
                    <a:bodyPr/>
                    <a:lstStyle/>
                    <a:p>
                      <a:pPr marL="0" indent="0">
                        <a:lnSpc>
                          <a:spcPts val="1680"/>
                        </a:lnSpc>
                        <a:buNone/>
                      </a:pPr>
                      <a:r>
                        <a:rPr lang="en-US" sz="1200" dirty="0">
                          <a:solidFill>
                            <a:srgbClr val="14213D"/>
                          </a:solidFill>
                          <a:latin typeface="DM Sans" pitchFamily="34" charset="0"/>
                          <a:ea typeface="DM Sans" pitchFamily="34" charset="-122"/>
                          <a:cs typeface="DM Sans" pitchFamily="34" charset="-120"/>
                        </a:rPr>
                        <a:t>TAXI_OUT, TAXI_IN</a:t>
                      </a:r>
                      <a:endParaRPr lang="en-US" sz="1200" dirty="0">
                        <a:latin typeface="DM Sans" charset="0"/>
                        <a:ea typeface="DM Sans" charset="0"/>
                        <a:cs typeface="DM Sans" charset="0"/>
                      </a:endParaRPr>
                    </a:p>
                  </a:txBody>
                  <a:tcPr marL="53340" marR="53340" marT="53340" marB="5334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DM Sans" pitchFamily="34" charset="0"/>
                          <a:ea typeface="DM Sans" pitchFamily="34" charset="-122"/>
                          <a:cs typeface="DM Sans" pitchFamily="34" charset="-120"/>
                        </a:rPr>
                        <a:t>Minutes on the ground</a:t>
                      </a:r>
                      <a:endParaRPr lang="en-US" sz="1200" dirty="0">
                        <a:latin typeface="DM Sans" charset="0"/>
                        <a:ea typeface="DM Sans" charset="0"/>
                        <a:cs typeface="DM Sans" charset="0"/>
                      </a:endParaRPr>
                    </a:p>
                  </a:txBody>
                  <a:tcPr marL="53340" marR="53340" marT="53340" marB="5334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extLst>
                  <a:ext uri="{0D108BD9-81ED-4DB2-BD59-A6C34878D82A}">
                    <a16:rowId xmlns:a16="http://schemas.microsoft.com/office/drawing/2014/main" val="10005"/>
                  </a:ext>
                </a:extLst>
              </a:tr>
              <a:tr h="332740">
                <a:tc>
                  <a:txBody>
                    <a:bodyPr/>
                    <a:lstStyle/>
                    <a:p>
                      <a:pPr marL="0" indent="0">
                        <a:lnSpc>
                          <a:spcPts val="1680"/>
                        </a:lnSpc>
                        <a:buNone/>
                      </a:pPr>
                      <a:r>
                        <a:rPr lang="en-US" sz="1200" dirty="0">
                          <a:solidFill>
                            <a:srgbClr val="14213D"/>
                          </a:solidFill>
                          <a:latin typeface="DM Sans" pitchFamily="34" charset="0"/>
                          <a:ea typeface="DM Sans" pitchFamily="34" charset="-122"/>
                          <a:cs typeface="DM Sans" pitchFamily="34" charset="-120"/>
                        </a:rPr>
                        <a:t>CANCELLED, DIVERTED</a:t>
                      </a:r>
                      <a:endParaRPr lang="en-US" sz="1200" dirty="0">
                        <a:latin typeface="DM Sans" charset="0"/>
                        <a:ea typeface="DM Sans" charset="0"/>
                        <a:cs typeface="DM Sans" charset="0"/>
                      </a:endParaRPr>
                    </a:p>
                  </a:txBody>
                  <a:tcPr marL="53340" marR="53340" marT="53340" marB="5334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DM Sans" pitchFamily="34" charset="0"/>
                          <a:ea typeface="DM Sans" pitchFamily="34" charset="-122"/>
                          <a:cs typeface="DM Sans" pitchFamily="34" charset="-120"/>
                        </a:rPr>
                        <a:t>Status flags (0 or 1)</a:t>
                      </a:r>
                      <a:endParaRPr lang="en-US" sz="1200" dirty="0">
                        <a:latin typeface="DM Sans" charset="0"/>
                        <a:ea typeface="DM Sans" charset="0"/>
                        <a:cs typeface="DM Sans" charset="0"/>
                      </a:endParaRPr>
                    </a:p>
                  </a:txBody>
                  <a:tcPr marL="53340" marR="53340" marT="53340" marB="5334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extLst>
                  <a:ext uri="{0D108BD9-81ED-4DB2-BD59-A6C34878D82A}">
                    <a16:rowId xmlns:a16="http://schemas.microsoft.com/office/drawing/2014/main" val="10006"/>
                  </a:ext>
                </a:extLst>
              </a:tr>
              <a:tr h="332740">
                <a:tc>
                  <a:txBody>
                    <a:bodyPr/>
                    <a:lstStyle/>
                    <a:p>
                      <a:pPr marL="0" indent="0">
                        <a:lnSpc>
                          <a:spcPts val="1680"/>
                        </a:lnSpc>
                        <a:buNone/>
                      </a:pPr>
                      <a:r>
                        <a:rPr lang="en-US" sz="1200" dirty="0">
                          <a:solidFill>
                            <a:srgbClr val="14213D"/>
                          </a:solidFill>
                          <a:latin typeface="DM Sans" pitchFamily="34" charset="0"/>
                          <a:ea typeface="DM Sans" pitchFamily="34" charset="-122"/>
                          <a:cs typeface="DM Sans" pitchFamily="34" charset="-120"/>
                        </a:rPr>
                        <a:t>DISTANCE</a:t>
                      </a:r>
                      <a:endParaRPr lang="en-US" sz="1200" dirty="0">
                        <a:latin typeface="DM Sans" charset="0"/>
                        <a:ea typeface="DM Sans" charset="0"/>
                        <a:cs typeface="DM Sans" charset="0"/>
                      </a:endParaRPr>
                    </a:p>
                  </a:txBody>
                  <a:tcPr marL="53340" marR="53340" marT="53340" marB="5334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DM Sans" pitchFamily="34" charset="0"/>
                          <a:ea typeface="DM Sans" pitchFamily="34" charset="-122"/>
                          <a:cs typeface="DM Sans" pitchFamily="34" charset="-120"/>
                        </a:rPr>
                        <a:t>Flight distance in miles</a:t>
                      </a:r>
                      <a:endParaRPr lang="en-US" sz="1200" dirty="0">
                        <a:latin typeface="DM Sans" charset="0"/>
                        <a:ea typeface="DM Sans" charset="0"/>
                        <a:cs typeface="DM Sans" charset="0"/>
                      </a:endParaRPr>
                    </a:p>
                  </a:txBody>
                  <a:tcPr marL="53340" marR="53340" marT="53340" marB="5334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17" name="Text 14"/>
          <p:cNvSpPr/>
          <p:nvPr/>
        </p:nvSpPr>
        <p:spPr>
          <a:xfrm>
            <a:off x="5918200" y="4008120"/>
            <a:ext cx="5624830" cy="452120"/>
          </a:xfrm>
          <a:prstGeom prst="rect">
            <a:avLst/>
          </a:prstGeom>
          <a:noFill/>
          <a:ln/>
        </p:spPr>
        <p:txBody>
          <a:bodyPr wrap="square" lIns="0" tIns="0" rIns="0" bIns="0" rtlCol="0" anchor="t">
            <a:normAutofit/>
          </a:bodyPr>
          <a:lstStyle/>
          <a:p>
            <a:endParaRPr sz="1190" dirty="0">
              <a:solidFill>
                <a:srgbClr val="505B72"/>
              </a:solidFill>
              <a:latin typeface="DM Sans"/>
            </a:endParaRPr>
          </a:p>
        </p:txBody>
      </p:sp>
      <p:sp>
        <p:nvSpPr>
          <p:cNvPr id="18" name="Text 15"/>
          <p:cNvSpPr/>
          <p:nvPr/>
        </p:nvSpPr>
        <p:spPr>
          <a:xfrm>
            <a:off x="812800" y="6238241"/>
            <a:ext cx="65405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2"/>
                </a:solidFill>
                <a:latin typeface="DM Sans" pitchFamily="34" charset="0"/>
                <a:ea typeface="DM Sans" pitchFamily="34" charset="-122"/>
                <a:cs typeface="DM Sans" pitchFamily="34" charset="-120"/>
              </a:rPr>
              <a:t>2 / 7 · Flight Delays EDA  ·  Abdullah Alluhaidan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9"/>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6096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13D"/>
                </a:solidFill>
                <a:latin typeface="DM Sans" pitchFamily="34" charset="0"/>
                <a:ea typeface="DM Sans" pitchFamily="34" charset="-122"/>
                <a:cs typeface="DM Sans" pitchFamily="34" charset="-120"/>
              </a:rPr>
              <a:t>Problem definition</a:t>
            </a:r>
            <a:endParaRPr lang="en-US" sz="3000" dirty="0"/>
          </a:p>
        </p:txBody>
      </p:sp>
      <p:sp>
        <p:nvSpPr>
          <p:cNvPr id="3" name="Shape 1"/>
          <p:cNvSpPr/>
          <p:nvPr/>
        </p:nvSpPr>
        <p:spPr>
          <a:xfrm>
            <a:off x="815975" y="1285875"/>
            <a:ext cx="3380303" cy="2719070"/>
          </a:xfrm>
          <a:prstGeom prst="roundRect">
            <a:avLst>
              <a:gd name="adj" fmla="val 3620"/>
            </a:avLst>
          </a:prstGeom>
          <a:solidFill>
            <a:srgbClr val="FBFCFD"/>
          </a:solidFill>
          <a:ln w="6350">
            <a:solidFill>
              <a:srgbClr val="DDE3EA"/>
            </a:solidFill>
            <a:prstDash val="solid"/>
          </a:ln>
        </p:spPr>
        <p:txBody>
          <a:bodyPr/>
          <a:lstStyle/>
          <a:p>
            <a:endParaRPr/>
          </a:p>
        </p:txBody>
      </p:sp>
      <p:sp>
        <p:nvSpPr>
          <p:cNvPr id="4" name="Text 2"/>
          <p:cNvSpPr/>
          <p:nvPr/>
        </p:nvSpPr>
        <p:spPr>
          <a:xfrm>
            <a:off x="1046480" y="1516380"/>
            <a:ext cx="3006872" cy="60960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14213D"/>
                </a:solidFill>
                <a:latin typeface="DM Sans" pitchFamily="34" charset="0"/>
                <a:ea typeface="DM Sans" pitchFamily="34" charset="-122"/>
                <a:cs typeface="DM Sans" pitchFamily="34" charset="-120"/>
              </a:rPr>
              <a:t>What is the data about?</a:t>
            </a:r>
            <a:endParaRPr lang="en-US" sz="2000" dirty="0"/>
          </a:p>
        </p:txBody>
      </p:sp>
      <p:sp>
        <p:nvSpPr>
          <p:cNvPr id="5" name="Text 3"/>
          <p:cNvSpPr/>
          <p:nvPr/>
        </p:nvSpPr>
        <p:spPr>
          <a:xfrm>
            <a:off x="1131062" y="2227580"/>
            <a:ext cx="2914670" cy="1572260"/>
          </a:xfrm>
          <a:prstGeom prst="rect">
            <a:avLst/>
          </a:prstGeom>
          <a:noFill/>
          <a:ln/>
        </p:spPr>
        <p:txBody>
          <a:bodyPr wrap="square" lIns="0" tIns="0" rIns="0" bIns="0" rtlCol="0" anchor="t">
            <a:normAutofit/>
          </a:bodyPr>
          <a:lstStyle/>
          <a:p>
            <a:pPr marL="169418" indent="-169418" algn="l">
              <a:lnSpc>
                <a:spcPts val="2030"/>
              </a:lnSpc>
              <a:buSzPct val="100000"/>
              <a:buChar char="•"/>
            </a:pPr>
            <a:r>
              <a:rPr lang="en-US" sz="1400" dirty="0">
                <a:solidFill>
                  <a:srgbClr val="4A5568"/>
                </a:solidFill>
                <a:latin typeface="DM Sans" pitchFamily="34" charset="0"/>
                <a:ea typeface="DM Sans" pitchFamily="34" charset="-122"/>
                <a:cs typeface="DM Sans" pitchFamily="34" charset="-120"/>
              </a:rPr>
              <a:t>Scheduled U.S. domestic flights, 2019–2023</a:t>
            </a:r>
            <a:endParaRPr lang="en-US" sz="1400" dirty="0"/>
          </a:p>
          <a:p>
            <a:pPr marL="169418" indent="-169418" algn="l">
              <a:lnSpc>
                <a:spcPts val="2030"/>
              </a:lnSpc>
              <a:buSzPct val="100000"/>
              <a:buChar char="•"/>
            </a:pPr>
            <a:r>
              <a:rPr lang="en-US" sz="1400" dirty="0">
                <a:solidFill>
                  <a:srgbClr val="4A5568"/>
                </a:solidFill>
                <a:latin typeface="DM Sans" pitchFamily="34" charset="0"/>
                <a:ea typeface="DM Sans" pitchFamily="34" charset="-122"/>
                <a:cs typeface="DM Sans" pitchFamily="34" charset="-120"/>
              </a:rPr>
              <a:t>Delay, taxi, distance and cancellation data for each flight</a:t>
            </a:r>
            <a:endParaRPr lang="en-US" sz="1400" dirty="0"/>
          </a:p>
          <a:p>
            <a:pPr marL="169418" indent="-169418" algn="l">
              <a:lnSpc>
                <a:spcPts val="2030"/>
              </a:lnSpc>
              <a:buSzPct val="100000"/>
              <a:buChar char="•"/>
            </a:pPr>
            <a:r>
              <a:rPr lang="en-US" sz="1400" dirty="0">
                <a:solidFill>
                  <a:srgbClr val="4A5568"/>
                </a:solidFill>
                <a:latin typeface="DM Sans" pitchFamily="34" charset="0"/>
                <a:ea typeface="DM Sans" pitchFamily="34" charset="-122"/>
                <a:cs typeface="DM Sans" pitchFamily="34" charset="-120"/>
              </a:rPr>
              <a:t>“Late” means arriving more than 15 minutes after schedule</a:t>
            </a:r>
            <a:endParaRPr lang="en-US" sz="1400" dirty="0"/>
          </a:p>
        </p:txBody>
      </p:sp>
      <p:sp>
        <p:nvSpPr>
          <p:cNvPr id="6" name="Shape 4"/>
          <p:cNvSpPr/>
          <p:nvPr/>
        </p:nvSpPr>
        <p:spPr>
          <a:xfrm>
            <a:off x="4405828" y="1285875"/>
            <a:ext cx="3380303" cy="2719070"/>
          </a:xfrm>
          <a:prstGeom prst="roundRect">
            <a:avLst>
              <a:gd name="adj" fmla="val 3620"/>
            </a:avLst>
          </a:prstGeom>
          <a:solidFill>
            <a:srgbClr val="FBFCFD"/>
          </a:solidFill>
          <a:ln w="6350">
            <a:solidFill>
              <a:srgbClr val="DDE3EA"/>
            </a:solidFill>
            <a:prstDash val="solid"/>
          </a:ln>
        </p:spPr>
        <p:txBody>
          <a:bodyPr/>
          <a:lstStyle/>
          <a:p>
            <a:endParaRPr/>
          </a:p>
        </p:txBody>
      </p:sp>
      <p:sp>
        <p:nvSpPr>
          <p:cNvPr id="7" name="Text 5"/>
          <p:cNvSpPr/>
          <p:nvPr/>
        </p:nvSpPr>
        <p:spPr>
          <a:xfrm>
            <a:off x="4636334" y="1516380"/>
            <a:ext cx="3006872" cy="31750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14213D"/>
                </a:solidFill>
                <a:latin typeface="DM Sans" pitchFamily="34" charset="0"/>
                <a:ea typeface="DM Sans" pitchFamily="34" charset="-122"/>
                <a:cs typeface="DM Sans" pitchFamily="34" charset="-120"/>
              </a:rPr>
              <a:t>What do we ask?</a:t>
            </a:r>
            <a:endParaRPr lang="en-US" sz="2000" dirty="0"/>
          </a:p>
        </p:txBody>
      </p:sp>
      <p:sp>
        <p:nvSpPr>
          <p:cNvPr id="8" name="Text 6"/>
          <p:cNvSpPr/>
          <p:nvPr/>
        </p:nvSpPr>
        <p:spPr>
          <a:xfrm>
            <a:off x="4720916" y="1935480"/>
            <a:ext cx="2914670" cy="1572260"/>
          </a:xfrm>
          <a:prstGeom prst="rect">
            <a:avLst/>
          </a:prstGeom>
          <a:noFill/>
          <a:ln/>
        </p:spPr>
        <p:txBody>
          <a:bodyPr wrap="square" lIns="0" tIns="0" rIns="0" bIns="0" rtlCol="0" anchor="t">
            <a:normAutofit/>
          </a:bodyPr>
          <a:lstStyle/>
          <a:p>
            <a:pPr marL="169418" indent="-169418" algn="l">
              <a:lnSpc>
                <a:spcPts val="2030"/>
              </a:lnSpc>
              <a:buSzPct val="100000"/>
              <a:buChar char="•"/>
            </a:pPr>
            <a:r>
              <a:rPr lang="en-US" sz="1400" dirty="0">
                <a:solidFill>
                  <a:srgbClr val="4A5568"/>
                </a:solidFill>
                <a:latin typeface="DM Sans" pitchFamily="34" charset="0"/>
                <a:ea typeface="DM Sans" pitchFamily="34" charset="-122"/>
                <a:cs typeface="DM Sans" pitchFamily="34" charset="-120"/>
              </a:rPr>
              <a:t>How often are flights late or cancelled?</a:t>
            </a:r>
            <a:endParaRPr lang="en-US" sz="1400" dirty="0"/>
          </a:p>
          <a:p>
            <a:pPr marL="169418" indent="-169418" algn="l">
              <a:lnSpc>
                <a:spcPts val="2030"/>
              </a:lnSpc>
              <a:buSzPct val="100000"/>
              <a:buChar char="•"/>
            </a:pPr>
            <a:r>
              <a:rPr lang="en-US" sz="1400" dirty="0">
                <a:solidFill>
                  <a:srgbClr val="4A5568"/>
                </a:solidFill>
                <a:latin typeface="DM Sans" pitchFamily="34" charset="0"/>
                <a:ea typeface="DM Sans" pitchFamily="34" charset="-122"/>
                <a:cs typeface="DM Sans" pitchFamily="34" charset="-120"/>
              </a:rPr>
              <a:t>Which airlines and times of day are worst?</a:t>
            </a:r>
            <a:endParaRPr lang="en-US" sz="1400" dirty="0"/>
          </a:p>
          <a:p>
            <a:pPr marL="169418" indent="-169418" algn="l">
              <a:lnSpc>
                <a:spcPts val="2030"/>
              </a:lnSpc>
              <a:buSzPct val="100000"/>
              <a:buChar char="•"/>
            </a:pPr>
            <a:r>
              <a:rPr lang="en-US" sz="1400" dirty="0">
                <a:solidFill>
                  <a:srgbClr val="4A5568"/>
                </a:solidFill>
                <a:latin typeface="DM Sans" pitchFamily="34" charset="0"/>
                <a:ea typeface="DM Sans" pitchFamily="34" charset="-122"/>
                <a:cs typeface="DM Sans" pitchFamily="34" charset="-120"/>
              </a:rPr>
              <a:t>Do departure delay or distance relate to arrival delay?</a:t>
            </a:r>
            <a:endParaRPr lang="en-US" sz="1400" dirty="0"/>
          </a:p>
        </p:txBody>
      </p:sp>
      <p:sp>
        <p:nvSpPr>
          <p:cNvPr id="9" name="Shape 7"/>
          <p:cNvSpPr/>
          <p:nvPr/>
        </p:nvSpPr>
        <p:spPr>
          <a:xfrm>
            <a:off x="7995682" y="1285875"/>
            <a:ext cx="3380343" cy="2719070"/>
          </a:xfrm>
          <a:prstGeom prst="roundRect">
            <a:avLst>
              <a:gd name="adj" fmla="val 3620"/>
            </a:avLst>
          </a:prstGeom>
          <a:solidFill>
            <a:srgbClr val="FBFCFD"/>
          </a:solidFill>
          <a:ln w="6350">
            <a:solidFill>
              <a:srgbClr val="DDE3EA"/>
            </a:solidFill>
            <a:prstDash val="solid"/>
          </a:ln>
        </p:spPr>
        <p:txBody>
          <a:bodyPr/>
          <a:lstStyle/>
          <a:p>
            <a:endParaRPr/>
          </a:p>
        </p:txBody>
      </p:sp>
      <p:sp>
        <p:nvSpPr>
          <p:cNvPr id="10" name="Text 8"/>
          <p:cNvSpPr/>
          <p:nvPr/>
        </p:nvSpPr>
        <p:spPr>
          <a:xfrm>
            <a:off x="8226187" y="1516380"/>
            <a:ext cx="3006913" cy="31750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14213D"/>
                </a:solidFill>
                <a:latin typeface="DM Sans" pitchFamily="34" charset="0"/>
                <a:ea typeface="DM Sans" pitchFamily="34" charset="-122"/>
                <a:cs typeface="DM Sans" pitchFamily="34" charset="-120"/>
              </a:rPr>
              <a:t>What do we expect?</a:t>
            </a:r>
            <a:endParaRPr lang="en-US" sz="2000" dirty="0"/>
          </a:p>
        </p:txBody>
      </p:sp>
      <p:sp>
        <p:nvSpPr>
          <p:cNvPr id="11" name="Text 9"/>
          <p:cNvSpPr/>
          <p:nvPr/>
        </p:nvSpPr>
        <p:spPr>
          <a:xfrm>
            <a:off x="8310769" y="1935480"/>
            <a:ext cx="2914711" cy="1572260"/>
          </a:xfrm>
          <a:prstGeom prst="rect">
            <a:avLst/>
          </a:prstGeom>
          <a:noFill/>
          <a:ln/>
        </p:spPr>
        <p:txBody>
          <a:bodyPr wrap="square" lIns="0" tIns="0" rIns="0" bIns="0" rtlCol="0" anchor="t">
            <a:normAutofit/>
          </a:bodyPr>
          <a:lstStyle/>
          <a:p>
            <a:pPr marL="169418" indent="-169418" algn="l">
              <a:lnSpc>
                <a:spcPts val="2030"/>
              </a:lnSpc>
              <a:buSzPct val="100000"/>
              <a:buChar char="•"/>
            </a:pPr>
            <a:r>
              <a:rPr lang="en-US" sz="1400" dirty="0">
                <a:solidFill>
                  <a:srgbClr val="4A5568"/>
                </a:solidFill>
                <a:latin typeface="DM Sans" pitchFamily="34" charset="0"/>
                <a:ea typeface="DM Sans" pitchFamily="34" charset="-122"/>
                <a:cs typeface="DM Sans" pitchFamily="34" charset="-120"/>
              </a:rPr>
              <a:t>Evening flights and budget airlines are late more often</a:t>
            </a:r>
            <a:endParaRPr lang="en-US" sz="1400" dirty="0"/>
          </a:p>
          <a:p>
            <a:pPr marL="169418" indent="-169418" algn="l">
              <a:lnSpc>
                <a:spcPts val="2030"/>
              </a:lnSpc>
              <a:buSzPct val="100000"/>
              <a:buChar char="•"/>
            </a:pPr>
            <a:r>
              <a:rPr lang="en-US" sz="1400" dirty="0">
                <a:solidFill>
                  <a:srgbClr val="4A5568"/>
                </a:solidFill>
                <a:latin typeface="DM Sans" pitchFamily="34" charset="0"/>
                <a:ea typeface="DM Sans" pitchFamily="34" charset="-122"/>
                <a:cs typeface="DM Sans" pitchFamily="34" charset="-120"/>
              </a:rPr>
              <a:t>Delays that start at departure carry through to arrival</a:t>
            </a:r>
            <a:endParaRPr lang="en-US" sz="1400" dirty="0"/>
          </a:p>
          <a:p>
            <a:pPr marL="169418" indent="-169418" algn="l">
              <a:lnSpc>
                <a:spcPts val="2030"/>
              </a:lnSpc>
              <a:buSzPct val="100000"/>
              <a:buChar char="•"/>
            </a:pPr>
            <a:r>
              <a:rPr lang="en-US" sz="1400" dirty="0">
                <a:solidFill>
                  <a:srgbClr val="4A5568"/>
                </a:solidFill>
                <a:latin typeface="DM Sans" pitchFamily="34" charset="0"/>
                <a:ea typeface="DM Sans" pitchFamily="34" charset="-122"/>
                <a:cs typeface="DM Sans" pitchFamily="34" charset="-120"/>
              </a:rPr>
              <a:t>Distance alone does not explain delays</a:t>
            </a:r>
            <a:endParaRPr lang="en-US" sz="1400" dirty="0"/>
          </a:p>
        </p:txBody>
      </p:sp>
      <p:sp>
        <p:nvSpPr>
          <p:cNvPr id="12" name="Text 10"/>
          <p:cNvSpPr/>
          <p:nvPr/>
        </p:nvSpPr>
        <p:spPr>
          <a:xfrm>
            <a:off x="812800" y="6238241"/>
            <a:ext cx="65405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2"/>
                </a:solidFill>
                <a:latin typeface="DM Sans" pitchFamily="34" charset="0"/>
                <a:ea typeface="DM Sans" pitchFamily="34" charset="-122"/>
                <a:cs typeface="DM Sans" pitchFamily="34" charset="-120"/>
              </a:rPr>
              <a:t>3 / 7 · Flight Delays EDA  ·  Abdullah Alluhaidan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9"/>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6096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13D"/>
                </a:solidFill>
                <a:latin typeface="DM Sans" pitchFamily="34" charset="0"/>
                <a:ea typeface="DM Sans" pitchFamily="34" charset="-122"/>
                <a:cs typeface="DM Sans" pitchFamily="34" charset="-120"/>
              </a:rPr>
              <a:t>EDA results</a:t>
            </a:r>
            <a:endParaRPr lang="en-US" sz="3000" dirty="0"/>
          </a:p>
        </p:txBody>
      </p:sp>
      <p:sp>
        <p:nvSpPr>
          <p:cNvPr id="3" name="Shape 1"/>
          <p:cNvSpPr/>
          <p:nvPr/>
        </p:nvSpPr>
        <p:spPr>
          <a:xfrm>
            <a:off x="812800" y="1155700"/>
            <a:ext cx="5181600" cy="2032000"/>
          </a:xfrm>
          <a:prstGeom prst="roundRect">
            <a:avLst>
              <a:gd name="adj" fmla="val 3750"/>
            </a:avLst>
          </a:prstGeom>
          <a:solidFill>
            <a:srgbClr val="FFFFFF"/>
          </a:solidFill>
          <a:ln/>
        </p:spPr>
        <p:txBody>
          <a:bodyPr/>
          <a:lstStyle/>
          <a:p>
            <a:endParaRPr/>
          </a:p>
        </p:txBody>
      </p:sp>
      <p:pic>
        <p:nvPicPr>
          <p:cNvPr id="4" name="Image 0" descr="Histogram of arrival delay in minutes: most flights land early, with a long right tail of big delays"/>
          <p:cNvPicPr>
            <a:picLocks noChangeAspect="1"/>
          </p:cNvPicPr>
          <p:nvPr/>
        </p:nvPicPr>
        <p:blipFill>
          <a:blip r:embed="rId3"/>
          <a:srcRect l="-191" r="-191"/>
          <a:stretch/>
        </p:blipFill>
        <p:spPr>
          <a:xfrm>
            <a:off x="819150" y="1162050"/>
            <a:ext cx="5168900" cy="2019300"/>
          </a:xfrm>
          <a:prstGeom prst="roundRect">
            <a:avLst>
              <a:gd name="adj" fmla="val 3459"/>
            </a:avLst>
          </a:prstGeom>
        </p:spPr>
      </p:pic>
      <p:sp>
        <p:nvSpPr>
          <p:cNvPr id="5" name="Shape 2"/>
          <p:cNvSpPr/>
          <p:nvPr/>
        </p:nvSpPr>
        <p:spPr>
          <a:xfrm>
            <a:off x="815975" y="1158875"/>
            <a:ext cx="5175250" cy="2025650"/>
          </a:xfrm>
          <a:prstGeom prst="roundRect">
            <a:avLst>
              <a:gd name="adj" fmla="val 3605"/>
            </a:avLst>
          </a:prstGeom>
          <a:noFill/>
          <a:ln w="6350">
            <a:solidFill>
              <a:srgbClr val="DDE3EA"/>
            </a:solidFill>
            <a:prstDash val="solid"/>
          </a:ln>
        </p:spPr>
        <p:txBody>
          <a:bodyPr/>
          <a:lstStyle/>
          <a:p>
            <a:endParaRPr/>
          </a:p>
        </p:txBody>
      </p:sp>
      <p:sp>
        <p:nvSpPr>
          <p:cNvPr id="6" name="Text 3"/>
          <p:cNvSpPr/>
          <p:nvPr/>
        </p:nvSpPr>
        <p:spPr>
          <a:xfrm>
            <a:off x="812800" y="3238500"/>
            <a:ext cx="533704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DM Sans" pitchFamily="34" charset="0"/>
                <a:ea typeface="DM Sans" pitchFamily="34" charset="-122"/>
                <a:cs typeface="DM Sans" pitchFamily="34" charset="-120"/>
              </a:rPr>
              <a:t>Most flights land early; a long tail of big delays.</a:t>
            </a:r>
            <a:endParaRPr lang="en-US" sz="1200" dirty="0"/>
          </a:p>
        </p:txBody>
      </p:sp>
      <p:sp>
        <p:nvSpPr>
          <p:cNvPr id="7" name="Shape 4"/>
          <p:cNvSpPr/>
          <p:nvPr/>
        </p:nvSpPr>
        <p:spPr>
          <a:xfrm>
            <a:off x="6197600" y="1155700"/>
            <a:ext cx="5181600" cy="2032000"/>
          </a:xfrm>
          <a:prstGeom prst="roundRect">
            <a:avLst>
              <a:gd name="adj" fmla="val 3750"/>
            </a:avLst>
          </a:prstGeom>
          <a:solidFill>
            <a:srgbClr val="FFFFFF"/>
          </a:solidFill>
          <a:ln/>
        </p:spPr>
        <p:txBody>
          <a:bodyPr/>
          <a:lstStyle/>
          <a:p>
            <a:endParaRPr/>
          </a:p>
        </p:txBody>
      </p:sp>
      <p:pic>
        <p:nvPicPr>
          <p:cNvPr id="8" name="Image 1" descr="Bar chart of late-arrival rate for the five lowest and five highest airlines, from Endeavor Air at 12.3 percent to JetBlue at 25.9 percent"/>
          <p:cNvPicPr>
            <a:picLocks noChangeAspect="1"/>
          </p:cNvPicPr>
          <p:nvPr/>
        </p:nvPicPr>
        <p:blipFill>
          <a:blip r:embed="rId4"/>
          <a:srcRect l="-191" r="-191"/>
          <a:stretch/>
        </p:blipFill>
        <p:spPr>
          <a:xfrm>
            <a:off x="6203950" y="1162050"/>
            <a:ext cx="5168900" cy="2019300"/>
          </a:xfrm>
          <a:prstGeom prst="roundRect">
            <a:avLst>
              <a:gd name="adj" fmla="val 3459"/>
            </a:avLst>
          </a:prstGeom>
        </p:spPr>
      </p:pic>
      <p:sp>
        <p:nvSpPr>
          <p:cNvPr id="9" name="Shape 5"/>
          <p:cNvSpPr/>
          <p:nvPr/>
        </p:nvSpPr>
        <p:spPr>
          <a:xfrm>
            <a:off x="6200775" y="1158875"/>
            <a:ext cx="5175250" cy="2025650"/>
          </a:xfrm>
          <a:prstGeom prst="roundRect">
            <a:avLst>
              <a:gd name="adj" fmla="val 3605"/>
            </a:avLst>
          </a:prstGeom>
          <a:noFill/>
          <a:ln w="6350">
            <a:solidFill>
              <a:srgbClr val="DDE3EA"/>
            </a:solidFill>
            <a:prstDash val="solid"/>
          </a:ln>
        </p:spPr>
        <p:txBody>
          <a:bodyPr/>
          <a:lstStyle/>
          <a:p>
            <a:endParaRPr/>
          </a:p>
        </p:txBody>
      </p:sp>
      <p:sp>
        <p:nvSpPr>
          <p:cNvPr id="10" name="Text 6"/>
          <p:cNvSpPr/>
          <p:nvPr/>
        </p:nvSpPr>
        <p:spPr>
          <a:xfrm>
            <a:off x="6197600" y="3238500"/>
            <a:ext cx="533704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DM Sans" pitchFamily="34" charset="0"/>
                <a:ea typeface="DM Sans" pitchFamily="34" charset="-122"/>
                <a:cs typeface="DM Sans" pitchFamily="34" charset="-120"/>
              </a:rPr>
              <a:t>Late rates range from 12% to 26% across airlines.</a:t>
            </a:r>
            <a:endParaRPr lang="en-US" sz="1200" dirty="0"/>
          </a:p>
        </p:txBody>
      </p:sp>
      <p:sp>
        <p:nvSpPr>
          <p:cNvPr id="11" name="Shape 7"/>
          <p:cNvSpPr/>
          <p:nvPr/>
        </p:nvSpPr>
        <p:spPr>
          <a:xfrm>
            <a:off x="812800" y="3502661"/>
            <a:ext cx="5181600" cy="2032000"/>
          </a:xfrm>
          <a:prstGeom prst="roundRect">
            <a:avLst>
              <a:gd name="adj" fmla="val 3750"/>
            </a:avLst>
          </a:prstGeom>
          <a:solidFill>
            <a:srgbClr val="FFFFFF"/>
          </a:solidFill>
          <a:ln/>
        </p:spPr>
        <p:txBody>
          <a:bodyPr/>
          <a:lstStyle/>
          <a:p>
            <a:endParaRPr/>
          </a:p>
        </p:txBody>
      </p:sp>
      <p:pic>
        <p:nvPicPr>
          <p:cNvPr id="12" name="Image 2" descr="Bar chart of late-arrival rate by scheduled departure hour, rising from about 8 percent at 5 am to about 25 percent at 8 and 9 pm"/>
          <p:cNvPicPr>
            <a:picLocks noChangeAspect="1"/>
          </p:cNvPicPr>
          <p:nvPr/>
        </p:nvPicPr>
        <p:blipFill>
          <a:blip r:embed="rId5"/>
          <a:srcRect l="-191" r="-191"/>
          <a:stretch/>
        </p:blipFill>
        <p:spPr>
          <a:xfrm>
            <a:off x="819150" y="3509011"/>
            <a:ext cx="5168900" cy="2019300"/>
          </a:xfrm>
          <a:prstGeom prst="roundRect">
            <a:avLst>
              <a:gd name="adj" fmla="val 3459"/>
            </a:avLst>
          </a:prstGeom>
        </p:spPr>
      </p:pic>
      <p:sp>
        <p:nvSpPr>
          <p:cNvPr id="13" name="Shape 8"/>
          <p:cNvSpPr/>
          <p:nvPr/>
        </p:nvSpPr>
        <p:spPr>
          <a:xfrm>
            <a:off x="815975" y="3505836"/>
            <a:ext cx="5175250" cy="2025650"/>
          </a:xfrm>
          <a:prstGeom prst="roundRect">
            <a:avLst>
              <a:gd name="adj" fmla="val 3605"/>
            </a:avLst>
          </a:prstGeom>
          <a:noFill/>
          <a:ln w="6350">
            <a:solidFill>
              <a:srgbClr val="DDE3EA"/>
            </a:solidFill>
            <a:prstDash val="solid"/>
          </a:ln>
        </p:spPr>
        <p:txBody>
          <a:bodyPr/>
          <a:lstStyle/>
          <a:p>
            <a:endParaRPr/>
          </a:p>
        </p:txBody>
      </p:sp>
      <p:sp>
        <p:nvSpPr>
          <p:cNvPr id="14" name="Text 9"/>
          <p:cNvSpPr/>
          <p:nvPr/>
        </p:nvSpPr>
        <p:spPr>
          <a:xfrm>
            <a:off x="812800" y="5585461"/>
            <a:ext cx="533704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DM Sans" pitchFamily="34" charset="0"/>
                <a:ea typeface="DM Sans" pitchFamily="34" charset="-122"/>
                <a:cs typeface="DM Sans" pitchFamily="34" charset="-120"/>
              </a:rPr>
              <a:t>Delays build through the day, peaking at 8–9 pm.</a:t>
            </a:r>
            <a:endParaRPr lang="en-US" sz="1200" dirty="0"/>
          </a:p>
        </p:txBody>
      </p:sp>
      <p:sp>
        <p:nvSpPr>
          <p:cNvPr id="15" name="Shape 10"/>
          <p:cNvSpPr/>
          <p:nvPr/>
        </p:nvSpPr>
        <p:spPr>
          <a:xfrm>
            <a:off x="6197600" y="3502661"/>
            <a:ext cx="5181600" cy="2032000"/>
          </a:xfrm>
          <a:prstGeom prst="roundRect">
            <a:avLst>
              <a:gd name="adj" fmla="val 3750"/>
            </a:avLst>
          </a:prstGeom>
          <a:solidFill>
            <a:srgbClr val="FFFFFF"/>
          </a:solidFill>
          <a:ln/>
        </p:spPr>
        <p:txBody>
          <a:bodyPr/>
          <a:lstStyle/>
          <a:p>
            <a:endParaRPr/>
          </a:p>
        </p:txBody>
      </p:sp>
      <p:pic>
        <p:nvPicPr>
          <p:cNvPr id="16" name="Image 3" descr="Scatter plot of departure delay against arrival delay with a rising best-fit line, correlation 0.96"/>
          <p:cNvPicPr>
            <a:picLocks noChangeAspect="1"/>
          </p:cNvPicPr>
          <p:nvPr/>
        </p:nvPicPr>
        <p:blipFill>
          <a:blip r:embed="rId6"/>
          <a:srcRect l="-191" r="-191"/>
          <a:stretch/>
        </p:blipFill>
        <p:spPr>
          <a:xfrm>
            <a:off x="6203950" y="3509011"/>
            <a:ext cx="5168900" cy="2019300"/>
          </a:xfrm>
          <a:prstGeom prst="roundRect">
            <a:avLst>
              <a:gd name="adj" fmla="val 3459"/>
            </a:avLst>
          </a:prstGeom>
        </p:spPr>
      </p:pic>
      <p:sp>
        <p:nvSpPr>
          <p:cNvPr id="17" name="Shape 11"/>
          <p:cNvSpPr/>
          <p:nvPr/>
        </p:nvSpPr>
        <p:spPr>
          <a:xfrm>
            <a:off x="6200775" y="3505836"/>
            <a:ext cx="5175250" cy="2025650"/>
          </a:xfrm>
          <a:prstGeom prst="roundRect">
            <a:avLst>
              <a:gd name="adj" fmla="val 3605"/>
            </a:avLst>
          </a:prstGeom>
          <a:noFill/>
          <a:ln w="6350">
            <a:solidFill>
              <a:srgbClr val="DDE3EA"/>
            </a:solidFill>
            <a:prstDash val="solid"/>
          </a:ln>
        </p:spPr>
        <p:txBody>
          <a:bodyPr/>
          <a:lstStyle/>
          <a:p>
            <a:endParaRPr/>
          </a:p>
        </p:txBody>
      </p:sp>
      <p:sp>
        <p:nvSpPr>
          <p:cNvPr id="18" name="Text 12"/>
          <p:cNvSpPr/>
          <p:nvPr/>
        </p:nvSpPr>
        <p:spPr>
          <a:xfrm>
            <a:off x="6197600" y="5585461"/>
            <a:ext cx="533704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DM Sans" pitchFamily="34" charset="0"/>
                <a:ea typeface="DM Sans" pitchFamily="34" charset="-122"/>
                <a:cs typeface="DM Sans" pitchFamily="34" charset="-120"/>
              </a:rPr>
              <a:t>Departure and arrival delays move together (r = 0.96).</a:t>
            </a:r>
            <a:endParaRPr lang="en-US" sz="1200" dirty="0"/>
          </a:p>
        </p:txBody>
      </p:sp>
      <p:sp>
        <p:nvSpPr>
          <p:cNvPr id="19" name="Text 13"/>
          <p:cNvSpPr/>
          <p:nvPr/>
        </p:nvSpPr>
        <p:spPr>
          <a:xfrm>
            <a:off x="812800" y="6238239"/>
            <a:ext cx="65405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2"/>
                </a:solidFill>
                <a:latin typeface="DM Sans" pitchFamily="34" charset="0"/>
                <a:ea typeface="DM Sans" pitchFamily="34" charset="-122"/>
                <a:cs typeface="DM Sans" pitchFamily="34" charset="-120"/>
              </a:rPr>
              <a:t>4 / 7 · Flight Delays EDA  ·  Abdullah Alluhaidan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9"/>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6096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13D"/>
                </a:solidFill>
                <a:latin typeface="DM Sans" pitchFamily="34" charset="0"/>
                <a:ea typeface="DM Sans" pitchFamily="34" charset="-122"/>
                <a:cs typeface="DM Sans" pitchFamily="34" charset="-120"/>
              </a:rPr>
              <a:t>Dashboard demo</a:t>
            </a:r>
            <a:endParaRPr lang="en-US" sz="3000" dirty="0"/>
          </a:p>
        </p:txBody>
      </p:sp>
      <p:sp>
        <p:nvSpPr>
          <p:cNvPr id="3" name="Shape 1"/>
          <p:cNvSpPr/>
          <p:nvPr/>
        </p:nvSpPr>
        <p:spPr>
          <a:xfrm>
            <a:off x="812800" y="1206500"/>
            <a:ext cx="4254500" cy="3429000"/>
          </a:xfrm>
          <a:prstGeom prst="roundRect">
            <a:avLst>
              <a:gd name="adj" fmla="val 2222"/>
            </a:avLst>
          </a:prstGeom>
          <a:solidFill>
            <a:srgbClr val="FFFFFF"/>
          </a:solidFill>
          <a:ln/>
          <a:effectLst>
            <a:outerShdw blurRad="101600" dist="25400" dir="5400000" algn="bl" rotWithShape="0">
              <a:srgbClr val="14213D">
                <a:alpha val="12000"/>
              </a:srgbClr>
            </a:outerShdw>
          </a:effectLst>
        </p:spPr>
        <p:txBody>
          <a:bodyPr/>
          <a:lstStyle/>
          <a:p>
            <a:endParaRPr/>
          </a:p>
        </p:txBody>
      </p:sp>
      <p:pic>
        <p:nvPicPr>
          <p:cNvPr id="4" name="Image 0" descr="Streamlit dashboard screenshot: sidebar with dataset description and filters (airlines, year, distance, departure hour), KPI cards for 2020 and a data preview table"/>
          <p:cNvPicPr>
            <a:picLocks noChangeAspect="1"/>
          </p:cNvPicPr>
          <p:nvPr/>
        </p:nvPicPr>
        <p:blipFill>
          <a:blip r:embed="rId3"/>
          <a:srcRect l="-10" r="-10"/>
          <a:stretch/>
        </p:blipFill>
        <p:spPr>
          <a:xfrm>
            <a:off x="819150" y="1212850"/>
            <a:ext cx="4241800" cy="3416300"/>
          </a:xfrm>
          <a:prstGeom prst="roundRect">
            <a:avLst>
              <a:gd name="adj" fmla="val 2045"/>
            </a:avLst>
          </a:prstGeom>
        </p:spPr>
      </p:pic>
      <p:sp>
        <p:nvSpPr>
          <p:cNvPr id="5" name="Shape 2"/>
          <p:cNvSpPr/>
          <p:nvPr/>
        </p:nvSpPr>
        <p:spPr>
          <a:xfrm>
            <a:off x="815975" y="1209675"/>
            <a:ext cx="4248150" cy="3422650"/>
          </a:xfrm>
          <a:prstGeom prst="roundRect">
            <a:avLst>
              <a:gd name="adj" fmla="val 2134"/>
            </a:avLst>
          </a:prstGeom>
          <a:noFill/>
          <a:ln w="6350">
            <a:solidFill>
              <a:srgbClr val="CFD6DF"/>
            </a:solidFill>
            <a:prstDash val="solid"/>
          </a:ln>
        </p:spPr>
        <p:txBody>
          <a:bodyPr/>
          <a:lstStyle/>
          <a:p>
            <a:endParaRPr/>
          </a:p>
        </p:txBody>
      </p:sp>
      <p:sp>
        <p:nvSpPr>
          <p:cNvPr id="6" name="Text 3"/>
          <p:cNvSpPr/>
          <p:nvPr/>
        </p:nvSpPr>
        <p:spPr>
          <a:xfrm>
            <a:off x="812800" y="4711700"/>
            <a:ext cx="438213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DM Sans" pitchFamily="34" charset="0"/>
                <a:ea typeface="DM Sans" pitchFamily="34" charset="-122"/>
                <a:cs typeface="DM Sans" pitchFamily="34" charset="-120"/>
              </a:rPr>
              <a:t>Sidebar filters and KPI cards (Year = 2020 selected)</a:t>
            </a:r>
            <a:endParaRPr lang="en-US" sz="1200" dirty="0"/>
          </a:p>
        </p:txBody>
      </p:sp>
      <p:sp>
        <p:nvSpPr>
          <p:cNvPr id="7" name="Shape 4"/>
          <p:cNvSpPr/>
          <p:nvPr/>
        </p:nvSpPr>
        <p:spPr>
          <a:xfrm>
            <a:off x="5295900" y="1206500"/>
            <a:ext cx="3721100" cy="3429000"/>
          </a:xfrm>
          <a:prstGeom prst="roundRect">
            <a:avLst>
              <a:gd name="adj" fmla="val 2222"/>
            </a:avLst>
          </a:prstGeom>
          <a:solidFill>
            <a:srgbClr val="FFFFFF"/>
          </a:solidFill>
          <a:ln/>
          <a:effectLst>
            <a:outerShdw blurRad="101600" dist="25400" dir="5400000" algn="bl" rotWithShape="0">
              <a:srgbClr val="14213D">
                <a:alpha val="12000"/>
              </a:srgbClr>
            </a:outerShdw>
          </a:effectLst>
        </p:spPr>
        <p:txBody>
          <a:bodyPr/>
          <a:lstStyle/>
          <a:p>
            <a:endParaRPr/>
          </a:p>
        </p:txBody>
      </p:sp>
      <p:pic>
        <p:nvPicPr>
          <p:cNvPr id="8" name="Image 1" descr="Streamlit dashboard screenshot: airline comparison bar chart, late arrivals by departure hour, monthly trend line and delay spread box plot"/>
          <p:cNvPicPr>
            <a:picLocks noChangeAspect="1"/>
          </p:cNvPicPr>
          <p:nvPr/>
        </p:nvPicPr>
        <p:blipFill>
          <a:blip r:embed="rId4"/>
          <a:srcRect t="-10" b="-10"/>
          <a:stretch/>
        </p:blipFill>
        <p:spPr>
          <a:xfrm>
            <a:off x="5302250" y="1212850"/>
            <a:ext cx="3708400" cy="3416300"/>
          </a:xfrm>
          <a:prstGeom prst="roundRect">
            <a:avLst>
              <a:gd name="adj" fmla="val 2045"/>
            </a:avLst>
          </a:prstGeom>
        </p:spPr>
      </p:pic>
      <p:sp>
        <p:nvSpPr>
          <p:cNvPr id="9" name="Shape 5"/>
          <p:cNvSpPr/>
          <p:nvPr/>
        </p:nvSpPr>
        <p:spPr>
          <a:xfrm>
            <a:off x="5299075" y="1209675"/>
            <a:ext cx="3714750" cy="3422650"/>
          </a:xfrm>
          <a:prstGeom prst="roundRect">
            <a:avLst>
              <a:gd name="adj" fmla="val 2134"/>
            </a:avLst>
          </a:prstGeom>
          <a:noFill/>
          <a:ln w="6350">
            <a:solidFill>
              <a:srgbClr val="CFD6DF"/>
            </a:solidFill>
            <a:prstDash val="solid"/>
          </a:ln>
        </p:spPr>
        <p:txBody>
          <a:bodyPr/>
          <a:lstStyle/>
          <a:p>
            <a:endParaRPr/>
          </a:p>
        </p:txBody>
      </p:sp>
      <p:sp>
        <p:nvSpPr>
          <p:cNvPr id="10" name="Text 6"/>
          <p:cNvSpPr/>
          <p:nvPr/>
        </p:nvSpPr>
        <p:spPr>
          <a:xfrm>
            <a:off x="5295900" y="4711700"/>
            <a:ext cx="3832733"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DM Sans" pitchFamily="34" charset="0"/>
                <a:ea typeface="DM Sans" pitchFamily="34" charset="-122"/>
                <a:cs typeface="DM Sans" pitchFamily="34" charset="-120"/>
              </a:rPr>
              <a:t>Interactive charts: hover, zoom, change the airline measure</a:t>
            </a:r>
            <a:endParaRPr lang="en-US" sz="1200" dirty="0"/>
          </a:p>
        </p:txBody>
      </p:sp>
      <p:sp>
        <p:nvSpPr>
          <p:cNvPr id="11" name="Text 7"/>
          <p:cNvSpPr/>
          <p:nvPr/>
        </p:nvSpPr>
        <p:spPr>
          <a:xfrm>
            <a:off x="9245600" y="1206500"/>
            <a:ext cx="2197608"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4213D"/>
                </a:solidFill>
                <a:latin typeface="DM Sans" pitchFamily="34" charset="0"/>
                <a:ea typeface="DM Sans" pitchFamily="34" charset="-122"/>
                <a:cs typeface="DM Sans" pitchFamily="34" charset="-120"/>
              </a:rPr>
              <a:t>What’s inside</a:t>
            </a:r>
            <a:endParaRPr lang="en-US" sz="1400" dirty="0"/>
          </a:p>
        </p:txBody>
      </p:sp>
      <p:pic>
        <p:nvPicPr>
          <p:cNvPr id="12" name="Image 2" descr="Settings"/>
          <p:cNvPicPr>
            <a:picLocks noChangeAspect="1"/>
          </p:cNvPicPr>
          <p:nvPr/>
        </p:nvPicPr>
        <p:blipFill>
          <a:blip r:embed="rId5"/>
          <a:srcRect/>
          <a:stretch/>
        </p:blipFill>
        <p:spPr>
          <a:xfrm>
            <a:off x="9245600" y="1572261"/>
            <a:ext cx="228600" cy="228600"/>
          </a:xfrm>
          <a:prstGeom prst="rect">
            <a:avLst/>
          </a:prstGeom>
        </p:spPr>
      </p:pic>
      <p:sp>
        <p:nvSpPr>
          <p:cNvPr id="13" name="Text 8"/>
          <p:cNvSpPr/>
          <p:nvPr/>
        </p:nvSpPr>
        <p:spPr>
          <a:xfrm>
            <a:off x="9575800" y="1572261"/>
            <a:ext cx="1857502"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DM Sans" pitchFamily="34" charset="0"/>
                <a:ea typeface="DM Sans" pitchFamily="34" charset="-122"/>
                <a:cs typeface="DM Sans" pitchFamily="34" charset="-120"/>
              </a:rPr>
              <a:t>Sidebar: dataset info and 4 filters</a:t>
            </a:r>
            <a:endParaRPr lang="en-US" sz="1200" dirty="0"/>
          </a:p>
        </p:txBody>
      </p:sp>
      <p:pic>
        <p:nvPicPr>
          <p:cNvPr id="14" name="Image 3" descr="Activity"/>
          <p:cNvPicPr>
            <a:picLocks noChangeAspect="1"/>
          </p:cNvPicPr>
          <p:nvPr/>
        </p:nvPicPr>
        <p:blipFill>
          <a:blip r:embed="rId6"/>
          <a:srcRect/>
          <a:stretch/>
        </p:blipFill>
        <p:spPr>
          <a:xfrm>
            <a:off x="9245600" y="2136139"/>
            <a:ext cx="228600" cy="228600"/>
          </a:xfrm>
          <a:prstGeom prst="rect">
            <a:avLst/>
          </a:prstGeom>
        </p:spPr>
      </p:pic>
      <p:sp>
        <p:nvSpPr>
          <p:cNvPr id="15" name="Text 9"/>
          <p:cNvSpPr/>
          <p:nvPr/>
        </p:nvSpPr>
        <p:spPr>
          <a:xfrm>
            <a:off x="9575800" y="2136139"/>
            <a:ext cx="1857502"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DM Sans" pitchFamily="34" charset="0"/>
                <a:ea typeface="DM Sans" pitchFamily="34" charset="-122"/>
                <a:cs typeface="DM Sans" pitchFamily="34" charset="-120"/>
              </a:rPr>
              <a:t>5 KPI cards, data preview and summary statistics</a:t>
            </a:r>
            <a:endParaRPr lang="en-US" sz="1200" dirty="0"/>
          </a:p>
        </p:txBody>
      </p:sp>
      <p:pic>
        <p:nvPicPr>
          <p:cNvPr id="16" name="Image 4" descr="Chart"/>
          <p:cNvPicPr>
            <a:picLocks noChangeAspect="1"/>
          </p:cNvPicPr>
          <p:nvPr/>
        </p:nvPicPr>
        <p:blipFill>
          <a:blip r:embed="rId7"/>
          <a:srcRect/>
          <a:stretch/>
        </p:blipFill>
        <p:spPr>
          <a:xfrm>
            <a:off x="9245600" y="2700021"/>
            <a:ext cx="228600" cy="228600"/>
          </a:xfrm>
          <a:prstGeom prst="rect">
            <a:avLst/>
          </a:prstGeom>
        </p:spPr>
      </p:pic>
      <p:sp>
        <p:nvSpPr>
          <p:cNvPr id="17" name="Text 10"/>
          <p:cNvSpPr/>
          <p:nvPr/>
        </p:nvSpPr>
        <p:spPr>
          <a:xfrm>
            <a:off x="9575800" y="2700021"/>
            <a:ext cx="1857502"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DM Sans" pitchFamily="34" charset="0"/>
                <a:ea typeface="DM Sans" pitchFamily="34" charset="-122"/>
                <a:cs typeface="DM Sans" pitchFamily="34" charset="-120"/>
              </a:rPr>
              <a:t>8 interactive charts</a:t>
            </a:r>
            <a:endParaRPr lang="en-US" sz="1200" dirty="0"/>
          </a:p>
        </p:txBody>
      </p:sp>
      <p:pic>
        <p:nvPicPr>
          <p:cNvPr id="18" name="Image 5" descr="Lightbulb"/>
          <p:cNvPicPr>
            <a:picLocks noChangeAspect="1"/>
          </p:cNvPicPr>
          <p:nvPr/>
        </p:nvPicPr>
        <p:blipFill>
          <a:blip r:embed="rId8"/>
          <a:srcRect/>
          <a:stretch/>
        </p:blipFill>
        <p:spPr>
          <a:xfrm>
            <a:off x="9245600" y="3081021"/>
            <a:ext cx="228600" cy="228600"/>
          </a:xfrm>
          <a:prstGeom prst="rect">
            <a:avLst/>
          </a:prstGeom>
        </p:spPr>
      </p:pic>
      <p:sp>
        <p:nvSpPr>
          <p:cNvPr id="19" name="Text 11"/>
          <p:cNvSpPr/>
          <p:nvPr/>
        </p:nvSpPr>
        <p:spPr>
          <a:xfrm>
            <a:off x="9575800" y="3081021"/>
            <a:ext cx="1857502"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DM Sans" pitchFamily="34" charset="0"/>
                <a:ea typeface="DM Sans" pitchFamily="34" charset="-122"/>
                <a:cs typeface="DM Sans" pitchFamily="34" charset="-120"/>
              </a:rPr>
              <a:t>Insight boxes that update with the filters</a:t>
            </a:r>
            <a:endParaRPr lang="en-US" sz="1200" dirty="0"/>
          </a:p>
        </p:txBody>
      </p:sp>
      <p:sp>
        <p:nvSpPr>
          <p:cNvPr id="20" name="Text 12"/>
          <p:cNvSpPr/>
          <p:nvPr/>
        </p:nvSpPr>
        <p:spPr>
          <a:xfrm>
            <a:off x="9245600" y="3644900"/>
            <a:ext cx="2133600" cy="391160"/>
          </a:xfrm>
          <a:prstGeom prst="roundRect">
            <a:avLst>
              <a:gd name="adj" fmla="val 16234"/>
            </a:avLst>
          </a:prstGeom>
          <a:solidFill>
            <a:srgbClr val="14213D"/>
          </a:solidFill>
          <a:ln/>
        </p:spPr>
        <p:txBody>
          <a:bodyPr wrap="square" lIns="83001" tIns="70301" rIns="25089" bIns="44901" rtlCol="0" anchor="t">
            <a:normAutofit/>
          </a:bodyPr>
          <a:lstStyle/>
          <a:p>
            <a:pPr marL="0" indent="0" algn="l">
              <a:lnSpc>
                <a:spcPts val="1680"/>
              </a:lnSpc>
              <a:buNone/>
            </a:pPr>
            <a:r>
              <a:rPr lang="en-US" sz="1200" dirty="0">
                <a:solidFill>
                  <a:srgbClr val="EEF3F8"/>
                </a:solidFill>
                <a:latin typeface="Courier New" pitchFamily="49" charset="0"/>
                <a:ea typeface="Courier New" pitchFamily="49" charset="-122"/>
                <a:cs typeface="Courier New" pitchFamily="49" charset="-120"/>
              </a:rPr>
              <a:t>streamlit run app.py</a:t>
            </a:r>
            <a:endParaRPr lang="en-US" sz="1200" dirty="0"/>
          </a:p>
        </p:txBody>
      </p:sp>
      <p:sp>
        <p:nvSpPr>
          <p:cNvPr id="21" name="Text 13"/>
          <p:cNvSpPr/>
          <p:nvPr/>
        </p:nvSpPr>
        <p:spPr>
          <a:xfrm>
            <a:off x="812800" y="6238239"/>
            <a:ext cx="65405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2"/>
                </a:solidFill>
                <a:latin typeface="DM Sans" pitchFamily="34" charset="0"/>
                <a:ea typeface="DM Sans" pitchFamily="34" charset="-122"/>
                <a:cs typeface="DM Sans" pitchFamily="34" charset="-120"/>
              </a:rPr>
              <a:t>5 / 7 · Flight Delays EDA  ·  Abdullah Alluhaidan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9"/>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6096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13D"/>
                </a:solidFill>
                <a:latin typeface="DM Sans" pitchFamily="34" charset="0"/>
                <a:ea typeface="DM Sans" pitchFamily="34" charset="-122"/>
                <a:cs typeface="DM Sans" pitchFamily="34" charset="-120"/>
              </a:rPr>
              <a:t>Final insights</a:t>
            </a:r>
            <a:endParaRPr lang="en-US" sz="3000" dirty="0"/>
          </a:p>
        </p:txBody>
      </p:sp>
      <p:sp>
        <p:nvSpPr>
          <p:cNvPr id="3" name="Shape 1"/>
          <p:cNvSpPr/>
          <p:nvPr/>
        </p:nvSpPr>
        <p:spPr>
          <a:xfrm>
            <a:off x="815975" y="1209675"/>
            <a:ext cx="5200650" cy="1624330"/>
          </a:xfrm>
          <a:prstGeom prst="roundRect">
            <a:avLst>
              <a:gd name="adj" fmla="val 6059"/>
            </a:avLst>
          </a:prstGeom>
          <a:solidFill>
            <a:srgbClr val="FBFCFD"/>
          </a:solidFill>
          <a:ln w="6350">
            <a:solidFill>
              <a:srgbClr val="DDE3EA"/>
            </a:solidFill>
            <a:prstDash val="solid"/>
          </a:ln>
        </p:spPr>
        <p:txBody>
          <a:bodyPr/>
          <a:lstStyle/>
          <a:p>
            <a:endParaRPr/>
          </a:p>
        </p:txBody>
      </p:sp>
      <p:sp>
        <p:nvSpPr>
          <p:cNvPr id="4" name="Text 2"/>
          <p:cNvSpPr/>
          <p:nvPr/>
        </p:nvSpPr>
        <p:spPr>
          <a:xfrm>
            <a:off x="1046480" y="1440182"/>
            <a:ext cx="4881829" cy="640080"/>
          </a:xfrm>
          <a:prstGeom prst="rect">
            <a:avLst/>
          </a:prstGeom>
          <a:noFill/>
          <a:ln/>
        </p:spPr>
        <p:txBody>
          <a:bodyPr wrap="square" lIns="0" tIns="0" rIns="0" bIns="0" rtlCol="0" anchor="t">
            <a:normAutofit/>
          </a:bodyPr>
          <a:lstStyle/>
          <a:p>
            <a:pPr marL="0" indent="0" algn="l">
              <a:lnSpc>
                <a:spcPts val="4840"/>
              </a:lnSpc>
              <a:buNone/>
            </a:pPr>
            <a:r>
              <a:rPr lang="en-US" sz="4400" b="1" dirty="0">
                <a:solidFill>
                  <a:srgbClr val="1C5CAB"/>
                </a:solidFill>
                <a:latin typeface="DM Sans" pitchFamily="34" charset="0"/>
                <a:ea typeface="DM Sans" pitchFamily="34" charset="-122"/>
                <a:cs typeface="DM Sans" pitchFamily="34" charset="-120"/>
              </a:rPr>
              <a:t>17.6%</a:t>
            </a:r>
            <a:endParaRPr lang="en-US" sz="4400" dirty="0"/>
          </a:p>
        </p:txBody>
      </p:sp>
      <p:sp>
        <p:nvSpPr>
          <p:cNvPr id="5" name="Text 3"/>
          <p:cNvSpPr/>
          <p:nvPr/>
        </p:nvSpPr>
        <p:spPr>
          <a:xfrm>
            <a:off x="1046480" y="2105661"/>
            <a:ext cx="4881829"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DM Sans" pitchFamily="34" charset="0"/>
                <a:ea typeface="DM Sans" pitchFamily="34" charset="-122"/>
                <a:cs typeface="DM Sans" pitchFamily="34" charset="-120"/>
              </a:rPr>
              <a:t>of completed flights arrive more than 15 minutes late, yet the typical flight lands 7 minutes early.</a:t>
            </a:r>
            <a:endParaRPr lang="en-US" sz="1400" dirty="0"/>
          </a:p>
        </p:txBody>
      </p:sp>
      <p:sp>
        <p:nvSpPr>
          <p:cNvPr id="6" name="Shape 4"/>
          <p:cNvSpPr/>
          <p:nvPr/>
        </p:nvSpPr>
        <p:spPr>
          <a:xfrm>
            <a:off x="6175375" y="1209675"/>
            <a:ext cx="5200650" cy="1624330"/>
          </a:xfrm>
          <a:prstGeom prst="roundRect">
            <a:avLst>
              <a:gd name="adj" fmla="val 6059"/>
            </a:avLst>
          </a:prstGeom>
          <a:solidFill>
            <a:srgbClr val="FBFCFD"/>
          </a:solidFill>
          <a:ln w="6350">
            <a:solidFill>
              <a:srgbClr val="DDE3EA"/>
            </a:solidFill>
            <a:prstDash val="solid"/>
          </a:ln>
        </p:spPr>
        <p:txBody>
          <a:bodyPr/>
          <a:lstStyle/>
          <a:p>
            <a:endParaRPr/>
          </a:p>
        </p:txBody>
      </p:sp>
      <p:sp>
        <p:nvSpPr>
          <p:cNvPr id="7" name="Text 5"/>
          <p:cNvSpPr/>
          <p:nvPr/>
        </p:nvSpPr>
        <p:spPr>
          <a:xfrm>
            <a:off x="6405880" y="1440182"/>
            <a:ext cx="4881829" cy="640080"/>
          </a:xfrm>
          <a:prstGeom prst="rect">
            <a:avLst/>
          </a:prstGeom>
          <a:noFill/>
          <a:ln/>
        </p:spPr>
        <p:txBody>
          <a:bodyPr wrap="square" lIns="0" tIns="0" rIns="0" bIns="0" rtlCol="0" anchor="t">
            <a:normAutofit/>
          </a:bodyPr>
          <a:lstStyle/>
          <a:p>
            <a:pPr marL="0" indent="0" algn="l">
              <a:lnSpc>
                <a:spcPts val="4840"/>
              </a:lnSpc>
              <a:buNone/>
            </a:pPr>
            <a:r>
              <a:rPr lang="en-US" sz="4400" b="1" dirty="0">
                <a:solidFill>
                  <a:srgbClr val="1C5CAB"/>
                </a:solidFill>
                <a:latin typeface="DM Sans" pitchFamily="34" charset="0"/>
                <a:ea typeface="DM Sans" pitchFamily="34" charset="-122"/>
                <a:cs typeface="DM Sans" pitchFamily="34" charset="-120"/>
              </a:rPr>
              <a:t>7.6% → 25%</a:t>
            </a:r>
            <a:endParaRPr lang="en-US" sz="4400" dirty="0"/>
          </a:p>
        </p:txBody>
      </p:sp>
      <p:sp>
        <p:nvSpPr>
          <p:cNvPr id="8" name="Text 6"/>
          <p:cNvSpPr/>
          <p:nvPr/>
        </p:nvSpPr>
        <p:spPr>
          <a:xfrm>
            <a:off x="6405880" y="2105661"/>
            <a:ext cx="4881829"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DM Sans" pitchFamily="34" charset="0"/>
                <a:ea typeface="DM Sans" pitchFamily="34" charset="-122"/>
                <a:cs typeface="DM Sans" pitchFamily="34" charset="-120"/>
              </a:rPr>
              <a:t>late rate for 5 am vs 9 pm departures: delays build through the day.</a:t>
            </a:r>
            <a:endParaRPr lang="en-US" sz="1400" dirty="0"/>
          </a:p>
        </p:txBody>
      </p:sp>
      <p:sp>
        <p:nvSpPr>
          <p:cNvPr id="9" name="Shape 7"/>
          <p:cNvSpPr/>
          <p:nvPr/>
        </p:nvSpPr>
        <p:spPr>
          <a:xfrm>
            <a:off x="815975" y="2992757"/>
            <a:ext cx="5200650" cy="1624330"/>
          </a:xfrm>
          <a:prstGeom prst="roundRect">
            <a:avLst>
              <a:gd name="adj" fmla="val 6059"/>
            </a:avLst>
          </a:prstGeom>
          <a:solidFill>
            <a:srgbClr val="FBFCFD"/>
          </a:solidFill>
          <a:ln w="6350">
            <a:solidFill>
              <a:srgbClr val="DDE3EA"/>
            </a:solidFill>
            <a:prstDash val="solid"/>
          </a:ln>
        </p:spPr>
        <p:txBody>
          <a:bodyPr/>
          <a:lstStyle/>
          <a:p>
            <a:endParaRPr/>
          </a:p>
        </p:txBody>
      </p:sp>
      <p:sp>
        <p:nvSpPr>
          <p:cNvPr id="10" name="Text 8"/>
          <p:cNvSpPr/>
          <p:nvPr/>
        </p:nvSpPr>
        <p:spPr>
          <a:xfrm>
            <a:off x="1046480" y="3223261"/>
            <a:ext cx="4881829" cy="640080"/>
          </a:xfrm>
          <a:prstGeom prst="rect">
            <a:avLst/>
          </a:prstGeom>
          <a:noFill/>
          <a:ln/>
        </p:spPr>
        <p:txBody>
          <a:bodyPr wrap="square" lIns="0" tIns="0" rIns="0" bIns="0" rtlCol="0" anchor="t">
            <a:normAutofit/>
          </a:bodyPr>
          <a:lstStyle/>
          <a:p>
            <a:pPr marL="0" indent="0" algn="l">
              <a:lnSpc>
                <a:spcPts val="4840"/>
              </a:lnSpc>
              <a:buNone/>
            </a:pPr>
            <a:r>
              <a:rPr lang="en-US" sz="4400" b="1" dirty="0">
                <a:solidFill>
                  <a:srgbClr val="1C5CAB"/>
                </a:solidFill>
                <a:latin typeface="DM Sans" pitchFamily="34" charset="0"/>
                <a:ea typeface="DM Sans" pitchFamily="34" charset="-122"/>
                <a:cs typeface="DM Sans" pitchFamily="34" charset="-120"/>
              </a:rPr>
              <a:t>12% – 26%</a:t>
            </a:r>
            <a:endParaRPr lang="en-US" sz="4400" dirty="0"/>
          </a:p>
        </p:txBody>
      </p:sp>
      <p:sp>
        <p:nvSpPr>
          <p:cNvPr id="11" name="Text 9"/>
          <p:cNvSpPr/>
          <p:nvPr/>
        </p:nvSpPr>
        <p:spPr>
          <a:xfrm>
            <a:off x="1046480" y="3888739"/>
            <a:ext cx="4881829"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DM Sans" pitchFamily="34" charset="0"/>
                <a:ea typeface="DM Sans" pitchFamily="34" charset="-122"/>
                <a:cs typeface="DM Sans" pitchFamily="34" charset="-120"/>
              </a:rPr>
              <a:t>late rate by airline, from Endeavor Air (12.3%) to JetBlue (25.9%).</a:t>
            </a:r>
            <a:endParaRPr lang="en-US" sz="1400" dirty="0"/>
          </a:p>
        </p:txBody>
      </p:sp>
      <p:sp>
        <p:nvSpPr>
          <p:cNvPr id="12" name="Shape 10"/>
          <p:cNvSpPr/>
          <p:nvPr/>
        </p:nvSpPr>
        <p:spPr>
          <a:xfrm>
            <a:off x="6175375" y="2992757"/>
            <a:ext cx="5200650" cy="1624330"/>
          </a:xfrm>
          <a:prstGeom prst="roundRect">
            <a:avLst>
              <a:gd name="adj" fmla="val 6059"/>
            </a:avLst>
          </a:prstGeom>
          <a:solidFill>
            <a:srgbClr val="FBFCFD"/>
          </a:solidFill>
          <a:ln w="6350">
            <a:solidFill>
              <a:srgbClr val="DDE3EA"/>
            </a:solidFill>
            <a:prstDash val="solid"/>
          </a:ln>
        </p:spPr>
        <p:txBody>
          <a:bodyPr/>
          <a:lstStyle/>
          <a:p>
            <a:endParaRPr/>
          </a:p>
        </p:txBody>
      </p:sp>
      <p:sp>
        <p:nvSpPr>
          <p:cNvPr id="13" name="Text 11"/>
          <p:cNvSpPr/>
          <p:nvPr/>
        </p:nvSpPr>
        <p:spPr>
          <a:xfrm>
            <a:off x="6405880" y="3223261"/>
            <a:ext cx="4881829" cy="640080"/>
          </a:xfrm>
          <a:prstGeom prst="rect">
            <a:avLst/>
          </a:prstGeom>
          <a:noFill/>
          <a:ln/>
        </p:spPr>
        <p:txBody>
          <a:bodyPr wrap="square" lIns="0" tIns="0" rIns="0" bIns="0" rtlCol="0" anchor="t">
            <a:normAutofit/>
          </a:bodyPr>
          <a:lstStyle/>
          <a:p>
            <a:pPr marL="0" indent="0" algn="l">
              <a:lnSpc>
                <a:spcPts val="4840"/>
              </a:lnSpc>
              <a:buNone/>
            </a:pPr>
            <a:r>
              <a:rPr lang="en-US" sz="4400" b="1" dirty="0">
                <a:solidFill>
                  <a:srgbClr val="1C5CAB"/>
                </a:solidFill>
                <a:latin typeface="DM Sans" pitchFamily="34" charset="0"/>
                <a:ea typeface="DM Sans" pitchFamily="34" charset="-122"/>
                <a:cs typeface="DM Sans" pitchFamily="34" charset="-120"/>
              </a:rPr>
              <a:t>r = 0.96</a:t>
            </a:r>
            <a:endParaRPr lang="en-US" sz="4400" dirty="0"/>
          </a:p>
        </p:txBody>
      </p:sp>
      <p:sp>
        <p:nvSpPr>
          <p:cNvPr id="14" name="Text 12"/>
          <p:cNvSpPr/>
          <p:nvPr/>
        </p:nvSpPr>
        <p:spPr>
          <a:xfrm>
            <a:off x="6405880" y="3888739"/>
            <a:ext cx="4881829"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DM Sans" pitchFamily="34" charset="0"/>
                <a:ea typeface="DM Sans" pitchFamily="34" charset="-122"/>
                <a:cs typeface="DM Sans" pitchFamily="34" charset="-120"/>
              </a:rPr>
              <a:t>between departure and arrival delay; distance has almost no link (r = 0.01).</a:t>
            </a:r>
            <a:endParaRPr lang="en-US" sz="1400" dirty="0"/>
          </a:p>
        </p:txBody>
      </p:sp>
      <p:sp>
        <p:nvSpPr>
          <p:cNvPr id="15" name="Text 13"/>
          <p:cNvSpPr/>
          <p:nvPr/>
        </p:nvSpPr>
        <p:spPr>
          <a:xfrm>
            <a:off x="815975" y="4801236"/>
            <a:ext cx="10560050" cy="806450"/>
          </a:xfrm>
          <a:prstGeom prst="roundRect">
            <a:avLst>
              <a:gd name="adj" fmla="val 9055"/>
            </a:avLst>
          </a:prstGeom>
          <a:solidFill>
            <a:srgbClr val="FBFCFD"/>
          </a:solidFill>
          <a:ln w="6350">
            <a:solidFill>
              <a:srgbClr val="DDE3EA"/>
            </a:solidFill>
            <a:prstDash val="solid"/>
          </a:ln>
        </p:spPr>
        <p:txBody>
          <a:bodyPr wrap="square" lIns="183717" tIns="132917" rIns="0" bIns="107517" rtlCol="0" anchor="t">
            <a:normAutofit/>
          </a:bodyPr>
          <a:lstStyle/>
          <a:p>
            <a:pPr marL="0" indent="0" algn="l">
              <a:lnSpc>
                <a:spcPts val="1960"/>
              </a:lnSpc>
              <a:buNone/>
            </a:pPr>
            <a:r>
              <a:rPr lang="en-US" sz="1400" b="1" dirty="0">
                <a:solidFill>
                  <a:srgbClr val="14213D"/>
                </a:solidFill>
                <a:latin typeface="DM Sans" pitchFamily="34" charset="0"/>
                <a:ea typeface="DM Sans" pitchFamily="34" charset="-122"/>
                <a:cs typeface="DM Sans" pitchFamily="34" charset="-120"/>
              </a:rPr>
              <a:t>2020 stands out:</a:t>
            </a:r>
            <a:r>
              <a:rPr lang="en-US" sz="1400" dirty="0">
                <a:solidFill>
                  <a:srgbClr val="14213D"/>
                </a:solidFill>
                <a:latin typeface="DM Sans" pitchFamily="34" charset="0"/>
                <a:ea typeface="DM Sans" pitchFamily="34" charset="-122"/>
                <a:cs typeface="DM Sans" pitchFamily="34" charset="-120"/>
              </a:rPr>
              <a:t> the fewest late arrivals (9.2%) but the most cancellations (5.9%). Late arrivals have risen every year since, to 22.5% in 2023.</a:t>
            </a:r>
            <a:endParaRPr lang="en-US" sz="1400" dirty="0"/>
          </a:p>
        </p:txBody>
      </p:sp>
      <p:sp>
        <p:nvSpPr>
          <p:cNvPr id="16" name="Text 14"/>
          <p:cNvSpPr/>
          <p:nvPr/>
        </p:nvSpPr>
        <p:spPr>
          <a:xfrm>
            <a:off x="812800" y="6238239"/>
            <a:ext cx="65405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2"/>
                </a:solidFill>
                <a:latin typeface="DM Sans" pitchFamily="34" charset="0"/>
                <a:ea typeface="DM Sans" pitchFamily="34" charset="-122"/>
                <a:cs typeface="DM Sans" pitchFamily="34" charset="-120"/>
              </a:rPr>
              <a:t>6 / 7 · Flight Delays EDA  ·  Abdullah Alluhaidan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2238"/>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6096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F4F7FB"/>
                </a:solidFill>
                <a:latin typeface="DM Sans" pitchFamily="34" charset="0"/>
                <a:ea typeface="DM Sans" pitchFamily="34" charset="-122"/>
                <a:cs typeface="DM Sans" pitchFamily="34" charset="-120"/>
              </a:rPr>
              <a:t>Conclusion</a:t>
            </a:r>
            <a:endParaRPr lang="en-US" sz="3000" dirty="0"/>
          </a:p>
        </p:txBody>
      </p:sp>
      <p:sp>
        <p:nvSpPr>
          <p:cNvPr id="3" name="Text 1"/>
          <p:cNvSpPr/>
          <p:nvPr/>
        </p:nvSpPr>
        <p:spPr>
          <a:xfrm>
            <a:off x="812800" y="1231900"/>
            <a:ext cx="10883392" cy="6858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D7E2EE"/>
                </a:solidFill>
                <a:latin typeface="DM Sans" pitchFamily="34" charset="0"/>
                <a:ea typeface="DM Sans" pitchFamily="34" charset="-122"/>
                <a:cs typeface="DM Sans" pitchFamily="34" charset="-120"/>
              </a:rPr>
              <a:t>Most flights arrive on time, but lateness is predictable: it grows through the day, differs by airline and starts at departure.</a:t>
            </a:r>
            <a:endParaRPr lang="en-US" sz="2000" dirty="0"/>
          </a:p>
        </p:txBody>
      </p:sp>
      <p:sp>
        <p:nvSpPr>
          <p:cNvPr id="4" name="Shape 2"/>
          <p:cNvSpPr/>
          <p:nvPr/>
        </p:nvSpPr>
        <p:spPr>
          <a:xfrm>
            <a:off x="815975" y="2098675"/>
            <a:ext cx="5175250" cy="1471930"/>
          </a:xfrm>
          <a:prstGeom prst="roundRect">
            <a:avLst>
              <a:gd name="adj" fmla="val 6687"/>
            </a:avLst>
          </a:prstGeom>
          <a:solidFill>
            <a:srgbClr val="17314D"/>
          </a:solidFill>
          <a:ln w="6350">
            <a:solidFill>
              <a:srgbClr val="2C4560"/>
            </a:solidFill>
            <a:prstDash val="solid"/>
          </a:ln>
        </p:spPr>
        <p:txBody>
          <a:bodyPr/>
          <a:lstStyle/>
          <a:p>
            <a:endParaRPr/>
          </a:p>
        </p:txBody>
      </p:sp>
      <p:sp>
        <p:nvSpPr>
          <p:cNvPr id="5" name="Text 3"/>
          <p:cNvSpPr/>
          <p:nvPr/>
        </p:nvSpPr>
        <p:spPr>
          <a:xfrm>
            <a:off x="1021080" y="2303782"/>
            <a:ext cx="4907991"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0966C"/>
                </a:solidFill>
                <a:latin typeface="DM Sans" pitchFamily="34" charset="0"/>
                <a:ea typeface="DM Sans" pitchFamily="34" charset="-122"/>
                <a:cs typeface="DM Sans" pitchFamily="34" charset="-120"/>
              </a:rPr>
              <a:t>Limitations</a:t>
            </a:r>
            <a:endParaRPr lang="en-US" sz="1400" dirty="0"/>
          </a:p>
        </p:txBody>
      </p:sp>
      <p:sp>
        <p:nvSpPr>
          <p:cNvPr id="6" name="Text 4"/>
          <p:cNvSpPr/>
          <p:nvPr/>
        </p:nvSpPr>
        <p:spPr>
          <a:xfrm>
            <a:off x="1105662" y="2618739"/>
            <a:ext cx="4815789" cy="772160"/>
          </a:xfrm>
          <a:prstGeom prst="rect">
            <a:avLst/>
          </a:prstGeom>
          <a:noFill/>
          <a:ln/>
        </p:spPr>
        <p:txBody>
          <a:bodyPr wrap="square" lIns="0" tIns="0" rIns="0" bIns="0" rtlCol="0" anchor="t">
            <a:normAutofit/>
          </a:bodyPr>
          <a:lstStyle/>
          <a:p>
            <a:pPr marL="169418" indent="-169418" algn="l">
              <a:lnSpc>
                <a:spcPts val="1960"/>
              </a:lnSpc>
              <a:buSzPct val="100000"/>
              <a:buChar char="•"/>
            </a:pPr>
            <a:r>
              <a:rPr lang="en-US" sz="1400" dirty="0">
                <a:solidFill>
                  <a:srgbClr val="D7E2EE"/>
                </a:solidFill>
                <a:latin typeface="DM Sans" pitchFamily="34" charset="0"/>
                <a:ea typeface="DM Sans" pitchFamily="34" charset="-122"/>
                <a:cs typeface="DM Sans" pitchFamily="34" charset="-120"/>
              </a:rPr>
              <a:t>A 100,000-flight sample, not every flight</a:t>
            </a:r>
            <a:endParaRPr lang="en-US" sz="1400" dirty="0"/>
          </a:p>
          <a:p>
            <a:pPr marL="169418" indent="-169418" algn="l">
              <a:lnSpc>
                <a:spcPts val="1960"/>
              </a:lnSpc>
              <a:buSzPct val="100000"/>
              <a:buChar char="•"/>
            </a:pPr>
            <a:r>
              <a:rPr lang="en-US" sz="1400" dirty="0">
                <a:solidFill>
                  <a:srgbClr val="D7E2EE"/>
                </a:solidFill>
                <a:latin typeface="DM Sans" pitchFamily="34" charset="0"/>
                <a:ea typeface="DM Sans" pitchFamily="34" charset="-122"/>
                <a:cs typeface="DM Sans" pitchFamily="34" charset="-120"/>
              </a:rPr>
              <a:t>Correlation is not cause and effect</a:t>
            </a:r>
            <a:endParaRPr lang="en-US" sz="1400" dirty="0"/>
          </a:p>
          <a:p>
            <a:pPr marL="169418" indent="-169418" algn="l">
              <a:lnSpc>
                <a:spcPts val="1960"/>
              </a:lnSpc>
              <a:buSzPct val="100000"/>
              <a:buChar char="•"/>
            </a:pPr>
            <a:r>
              <a:rPr lang="en-US" sz="1400" dirty="0">
                <a:solidFill>
                  <a:srgbClr val="D7E2EE"/>
                </a:solidFill>
                <a:latin typeface="DM Sans" pitchFamily="34" charset="0"/>
                <a:ea typeface="DM Sans" pitchFamily="34" charset="-122"/>
                <a:cs typeface="DM Sans" pitchFamily="34" charset="-120"/>
              </a:rPr>
              <a:t>Cancelled flights have no arrival delay</a:t>
            </a:r>
            <a:endParaRPr lang="en-US" sz="1400" dirty="0"/>
          </a:p>
        </p:txBody>
      </p:sp>
      <p:sp>
        <p:nvSpPr>
          <p:cNvPr id="7" name="Shape 5"/>
          <p:cNvSpPr/>
          <p:nvPr/>
        </p:nvSpPr>
        <p:spPr>
          <a:xfrm>
            <a:off x="6200775" y="2098675"/>
            <a:ext cx="5175250" cy="1471930"/>
          </a:xfrm>
          <a:prstGeom prst="roundRect">
            <a:avLst>
              <a:gd name="adj" fmla="val 6687"/>
            </a:avLst>
          </a:prstGeom>
          <a:solidFill>
            <a:srgbClr val="17314D"/>
          </a:solidFill>
          <a:ln w="6350">
            <a:solidFill>
              <a:srgbClr val="2C4560"/>
            </a:solidFill>
            <a:prstDash val="solid"/>
          </a:ln>
        </p:spPr>
        <p:txBody>
          <a:bodyPr/>
          <a:lstStyle/>
          <a:p>
            <a:endParaRPr/>
          </a:p>
        </p:txBody>
      </p:sp>
      <p:sp>
        <p:nvSpPr>
          <p:cNvPr id="8" name="Text 6"/>
          <p:cNvSpPr/>
          <p:nvPr/>
        </p:nvSpPr>
        <p:spPr>
          <a:xfrm>
            <a:off x="6405880" y="2303782"/>
            <a:ext cx="4907991"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8FBBF3"/>
                </a:solidFill>
                <a:latin typeface="DM Sans" pitchFamily="34" charset="0"/>
                <a:ea typeface="DM Sans" pitchFamily="34" charset="-122"/>
                <a:cs typeface="DM Sans" pitchFamily="34" charset="-120"/>
              </a:rPr>
              <a:t>Next steps</a:t>
            </a:r>
            <a:endParaRPr lang="en-US" sz="1400" dirty="0"/>
          </a:p>
        </p:txBody>
      </p:sp>
      <p:sp>
        <p:nvSpPr>
          <p:cNvPr id="9" name="Text 7"/>
          <p:cNvSpPr/>
          <p:nvPr/>
        </p:nvSpPr>
        <p:spPr>
          <a:xfrm>
            <a:off x="6490462" y="2618739"/>
            <a:ext cx="4815789" cy="772160"/>
          </a:xfrm>
          <a:prstGeom prst="rect">
            <a:avLst/>
          </a:prstGeom>
          <a:noFill/>
          <a:ln/>
        </p:spPr>
        <p:txBody>
          <a:bodyPr wrap="square" lIns="0" tIns="0" rIns="0" bIns="0" rtlCol="0" anchor="t">
            <a:normAutofit/>
          </a:bodyPr>
          <a:lstStyle/>
          <a:p>
            <a:pPr marL="169418" indent="-169418" algn="l">
              <a:lnSpc>
                <a:spcPts val="1960"/>
              </a:lnSpc>
              <a:buSzPct val="100000"/>
              <a:buChar char="•"/>
            </a:pPr>
            <a:r>
              <a:rPr lang="en-US" sz="1400" dirty="0">
                <a:solidFill>
                  <a:srgbClr val="D7E2EE"/>
                </a:solidFill>
                <a:latin typeface="DM Sans" pitchFamily="34" charset="0"/>
                <a:ea typeface="DM Sans" pitchFamily="34" charset="-122"/>
                <a:cs typeface="DM Sans" pitchFamily="34" charset="-120"/>
              </a:rPr>
              <a:t>Add airports, weather and delay causes</a:t>
            </a:r>
            <a:endParaRPr lang="en-US" sz="1400" dirty="0"/>
          </a:p>
          <a:p>
            <a:pPr marL="169418" indent="-169418" algn="l">
              <a:lnSpc>
                <a:spcPts val="1960"/>
              </a:lnSpc>
              <a:buSzPct val="100000"/>
              <a:buChar char="•"/>
            </a:pPr>
            <a:r>
              <a:rPr lang="en-US" sz="1400" dirty="0">
                <a:solidFill>
                  <a:srgbClr val="D7E2EE"/>
                </a:solidFill>
                <a:latin typeface="DM Sans" pitchFamily="34" charset="0"/>
                <a:ea typeface="DM Sans" pitchFamily="34" charset="-122"/>
                <a:cs typeface="DM Sans" pitchFamily="34" charset="-120"/>
              </a:rPr>
              <a:t>Build a simple model to predict late arrivals</a:t>
            </a:r>
            <a:endParaRPr lang="en-US" sz="1400" dirty="0"/>
          </a:p>
          <a:p>
            <a:pPr marL="169418" indent="-169418" algn="l">
              <a:lnSpc>
                <a:spcPts val="1960"/>
              </a:lnSpc>
              <a:buSzPct val="100000"/>
              <a:buChar char="•"/>
            </a:pPr>
            <a:r>
              <a:rPr lang="en-US" sz="1400" dirty="0">
                <a:solidFill>
                  <a:srgbClr val="D7E2EE"/>
                </a:solidFill>
                <a:latin typeface="DM Sans" pitchFamily="34" charset="0"/>
                <a:ea typeface="DM Sans" pitchFamily="34" charset="-122"/>
                <a:cs typeface="DM Sans" pitchFamily="34" charset="-120"/>
              </a:rPr>
              <a:t>Compare patterns before and after 2020</a:t>
            </a:r>
            <a:endParaRPr lang="en-US" sz="1400" dirty="0"/>
          </a:p>
        </p:txBody>
      </p:sp>
      <p:sp>
        <p:nvSpPr>
          <p:cNvPr id="10" name="Text 8"/>
          <p:cNvSpPr/>
          <p:nvPr/>
        </p:nvSpPr>
        <p:spPr>
          <a:xfrm>
            <a:off x="812800" y="3776982"/>
            <a:ext cx="10883392"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4F7FB"/>
                </a:solidFill>
                <a:latin typeface="DM Sans" pitchFamily="34" charset="0"/>
                <a:ea typeface="DM Sans" pitchFamily="34" charset="-122"/>
                <a:cs typeface="DM Sans" pitchFamily="34" charset="-120"/>
              </a:rPr>
              <a:t>                                                                       Thank you. </a:t>
            </a:r>
            <a:endParaRPr lang="en-US" sz="2000" dirty="0"/>
          </a:p>
        </p:txBody>
      </p:sp>
      <p:sp>
        <p:nvSpPr>
          <p:cNvPr id="11" name="Text 9"/>
          <p:cNvSpPr/>
          <p:nvPr/>
        </p:nvSpPr>
        <p:spPr>
          <a:xfrm>
            <a:off x="812800" y="6238239"/>
            <a:ext cx="65405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EA2B8"/>
                </a:solidFill>
                <a:latin typeface="DM Sans" pitchFamily="34" charset="0"/>
                <a:ea typeface="DM Sans" pitchFamily="34" charset="-122"/>
                <a:cs typeface="DM Sans" pitchFamily="34" charset="-120"/>
              </a:rPr>
              <a:t>7 / 7 · Flight Delays EDA  ·  Abdullah Alluhaidan</a:t>
            </a:r>
            <a:endParaRPr lang="en-US" sz="1200" dirty="0"/>
          </a:p>
        </p:txBody>
      </p:sp>
    </p:spTree>
  </p:cSld>
  <p:clrMapOvr>
    <a:masterClrMapping/>
  </p:clrMapOvr>
</p:sld>
</file>

<file path=ppt/theme/theme1.xml><?xml version="1.0" encoding="utf-8"?>
<a:theme xmlns:a="http://schemas.openxmlformats.org/drawingml/2006/main" name="Flight Delays EDA &amp; Dashboard">
  <a:themeElements>
    <a:clrScheme name="Flight Delays EDA &amp; Dashboard">
      <a:dk1>
        <a:srgbClr val="14213D"/>
      </a:dk1>
      <a:lt1>
        <a:srgbClr val="F4F6F9"/>
      </a:lt1>
      <a:dk2>
        <a:srgbClr val="4C566C"/>
      </a:dk2>
      <a:lt2>
        <a:srgbClr val="DEE1E6"/>
      </a:lt2>
      <a:accent1>
        <a:srgbClr val="1C5CAB"/>
      </a:accent1>
      <a:accent2>
        <a:srgbClr val="8FBBF3"/>
      </a:accent2>
      <a:accent3>
        <a:srgbClr val="2A78D6"/>
      </a:accent3>
      <a:accent4>
        <a:srgbClr val="F0966C"/>
      </a:accent4>
      <a:accent5>
        <a:srgbClr val="8EA2B8"/>
      </a:accent5>
      <a:accent6>
        <a:srgbClr val="4A5568"/>
      </a:accent6>
      <a:hlink>
        <a:srgbClr val="0563C1"/>
      </a:hlink>
      <a:folHlink>
        <a:srgbClr val="954F72"/>
      </a:folHlink>
    </a:clrScheme>
    <a:fontScheme name="Flight Delays EDA &amp; Dashboard">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1386</Words>
  <Application>Microsoft Office PowerPoint</Application>
  <PresentationFormat>Widescreen</PresentationFormat>
  <Paragraphs>99</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DM Sans</vt:lpstr>
      <vt:lpstr>Courier New</vt:lpstr>
      <vt:lpstr>Flight Delays EDA &amp; Dashboard</vt:lpstr>
      <vt:lpstr>Why Are Flights Late?</vt:lpstr>
      <vt:lpstr>Dataset overview</vt:lpstr>
      <vt:lpstr>Problem definition</vt:lpstr>
      <vt:lpstr>EDA results</vt:lpstr>
      <vt:lpstr>Dashboard demo</vt:lpstr>
      <vt:lpstr>Final insights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Why Are Flights Late? | EDA and Streamlit Dashboard</dc:title>
  <dc:subject>Unit 3 Individual Data Exploration &amp; Dashboard Development</dc:subject>
  <dc:creator>Abdullah Alluhaidan</dc:creator>
  <cp:keywords>Flight delays, EDA, Streamlit, Abdullah Alluhaidan</cp:keywords>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presentationâ€™s text: its family and style names and the weight and style it declares were rewritten, and any digital signature, which no longer matched, was removed. Google Fonts serves each family in parts, one file per range of characters, so these may not be a familyâ€™s complete files. Each familyâ€™s copyright lines and license follow, and each family stays under its own license; if you pass this file on, keep these notices with it.
DM Sans
Copyright 2014 The DM Sans Project Authors (https://github.com/googlefonts/dm-fonts)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dc:description>
  <cp:lastModifiedBy>abdullah mohammad ali alluhaidan</cp:lastModifiedBy>
  <cp:revision>4</cp:revision>
  <dcterms:created xsi:type="dcterms:W3CDTF">2026-10-26T09:25:54Z</dcterms:created>
  <dcterms:modified xsi:type="dcterms:W3CDTF">2026-10-26T10:30:11Z</dcterms:modified>
</cp:coreProperties>
</file>